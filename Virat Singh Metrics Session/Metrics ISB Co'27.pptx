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6858000" cy="9144000"/>
  <p:embeddedFontLst>
    <p:embeddedFont>
      <p:font typeface="Google Sans SemiBold"/>
      <p:regular r:id="rId46"/>
      <p:bold r:id="rId47"/>
      <p:italic r:id="rId48"/>
      <p:boldItalic r:id="rId49"/>
    </p:embeddedFont>
    <p:embeddedFont>
      <p:font typeface="Play"/>
      <p:regular r:id="rId50"/>
      <p:bold r:id="rId51"/>
    </p:embeddedFont>
    <p:embeddedFont>
      <p:font typeface="Google Sans Medium"/>
      <p:regular r:id="rId52"/>
      <p:bold r:id="rId53"/>
      <p:italic r:id="rId54"/>
      <p:boldItalic r:id="rId55"/>
    </p:embeddedFont>
    <p:embeddedFont>
      <p:font typeface="Google Sans"/>
      <p:regular r:id="rId56"/>
      <p:bold r:id="rId57"/>
      <p:italic r:id="rId58"/>
      <p:boldItalic r:id="rId59"/>
    </p:embeddedFont>
    <p:embeddedFont>
      <p:font typeface="Quattrocento Sans"/>
      <p:regular r:id="rId60"/>
      <p:bold r:id="rId61"/>
      <p:italic r:id="rId62"/>
      <p:boldItalic r:id="rId63"/>
    </p:embeddedFont>
    <p:embeddedFont>
      <p:font typeface="DM San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8" roundtripDataSignature="AMtx7mhVYHyJ8K0mOoApc7eJxFQo1YV7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1A64C2-A97B-4B3F-BC82-D83AE5DDB74A}">
  <a:tblStyle styleId="{4F1A64C2-A97B-4B3F-BC82-D83AE5DDB74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GoogleSansSemiBold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GoogleSansSemiBold-italic.fntdata"/><Relationship Id="rId47" Type="http://schemas.openxmlformats.org/officeDocument/2006/relationships/font" Target="fonts/GoogleSansSemiBold-bold.fntdata"/><Relationship Id="rId49" Type="http://schemas.openxmlformats.org/officeDocument/2006/relationships/font" Target="fonts/Google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QuattrocentoSans-italic.fntdata"/><Relationship Id="rId61" Type="http://schemas.openxmlformats.org/officeDocument/2006/relationships/font" Target="fonts/QuattrocentoSans-bold.fntdata"/><Relationship Id="rId20" Type="http://schemas.openxmlformats.org/officeDocument/2006/relationships/slide" Target="slides/slide14.xml"/><Relationship Id="rId64" Type="http://schemas.openxmlformats.org/officeDocument/2006/relationships/font" Target="fonts/DMSans-regular.fntdata"/><Relationship Id="rId63" Type="http://schemas.openxmlformats.org/officeDocument/2006/relationships/font" Target="fonts/QuattrocentoSans-boldItalic.fntdata"/><Relationship Id="rId22" Type="http://schemas.openxmlformats.org/officeDocument/2006/relationships/slide" Target="slides/slide16.xml"/><Relationship Id="rId66" Type="http://schemas.openxmlformats.org/officeDocument/2006/relationships/font" Target="fonts/DMSans-italic.fntdata"/><Relationship Id="rId21" Type="http://schemas.openxmlformats.org/officeDocument/2006/relationships/slide" Target="slides/slide15.xml"/><Relationship Id="rId65" Type="http://schemas.openxmlformats.org/officeDocument/2006/relationships/font" Target="fonts/DMSans-bold.fntdata"/><Relationship Id="rId24" Type="http://schemas.openxmlformats.org/officeDocument/2006/relationships/slide" Target="slides/slide18.xml"/><Relationship Id="rId68" Type="http://customschemas.google.com/relationships/presentationmetadata" Target="metadata"/><Relationship Id="rId23" Type="http://schemas.openxmlformats.org/officeDocument/2006/relationships/slide" Target="slides/slide17.xml"/><Relationship Id="rId67" Type="http://schemas.openxmlformats.org/officeDocument/2006/relationships/font" Target="fonts/DMSans-boldItalic.fntdata"/><Relationship Id="rId60" Type="http://schemas.openxmlformats.org/officeDocument/2006/relationships/font" Target="fonts/QuattrocentoSans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lay-bold.fntdata"/><Relationship Id="rId50" Type="http://schemas.openxmlformats.org/officeDocument/2006/relationships/font" Target="fonts/Play-regular.fntdata"/><Relationship Id="rId53" Type="http://schemas.openxmlformats.org/officeDocument/2006/relationships/font" Target="fonts/GoogleSansMedium-bold.fntdata"/><Relationship Id="rId52" Type="http://schemas.openxmlformats.org/officeDocument/2006/relationships/font" Target="fonts/GoogleSansMedium-regular.fntdata"/><Relationship Id="rId11" Type="http://schemas.openxmlformats.org/officeDocument/2006/relationships/slide" Target="slides/slide5.xml"/><Relationship Id="rId55" Type="http://schemas.openxmlformats.org/officeDocument/2006/relationships/font" Target="fonts/GoogleSansMedium-boldItalic.fntdata"/><Relationship Id="rId10" Type="http://schemas.openxmlformats.org/officeDocument/2006/relationships/slide" Target="slides/slide4.xml"/><Relationship Id="rId54" Type="http://schemas.openxmlformats.org/officeDocument/2006/relationships/font" Target="fonts/GoogleSansMedium-italic.fntdata"/><Relationship Id="rId13" Type="http://schemas.openxmlformats.org/officeDocument/2006/relationships/slide" Target="slides/slide7.xml"/><Relationship Id="rId57" Type="http://schemas.openxmlformats.org/officeDocument/2006/relationships/font" Target="fonts/GoogleSans-bold.fntdata"/><Relationship Id="rId12" Type="http://schemas.openxmlformats.org/officeDocument/2006/relationships/slide" Target="slides/slide6.xml"/><Relationship Id="rId56" Type="http://schemas.openxmlformats.org/officeDocument/2006/relationships/font" Target="fonts/GoogleSans-regular.fntdata"/><Relationship Id="rId15" Type="http://schemas.openxmlformats.org/officeDocument/2006/relationships/slide" Target="slides/slide9.xml"/><Relationship Id="rId59" Type="http://schemas.openxmlformats.org/officeDocument/2006/relationships/font" Target="fonts/GoogleSans-boldItalic.fntdata"/><Relationship Id="rId14" Type="http://schemas.openxmlformats.org/officeDocument/2006/relationships/slide" Target="slides/slide8.xml"/><Relationship Id="rId58" Type="http://schemas.openxmlformats.org/officeDocument/2006/relationships/font" Target="fonts/Google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Xbox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Sheet1!$C$4:$C$18</c:f>
              <c:numCache>
                <c:formatCode>General</c:formatCode>
                <c:ptCount val="15"/>
                <c:pt idx="0">
                  <c:v>20</c:v>
                </c:pt>
                <c:pt idx="1">
                  <c:v>100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100</c:v>
                </c:pt>
                <c:pt idx="6">
                  <c:v>55</c:v>
                </c:pt>
                <c:pt idx="7">
                  <c:v>35</c:v>
                </c:pt>
                <c:pt idx="8">
                  <c:v>14</c:v>
                </c:pt>
                <c:pt idx="9">
                  <c:v>95</c:v>
                </c:pt>
                <c:pt idx="10">
                  <c:v>60</c:v>
                </c:pt>
                <c:pt idx="11">
                  <c:v>45</c:v>
                </c:pt>
                <c:pt idx="12">
                  <c:v>20</c:v>
                </c:pt>
                <c:pt idx="13">
                  <c:v>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61D-4160-B4D3-87E065087202}"/>
            </c:ext>
          </c:extLst>
        </c:ser>
        <c:ser>
          <c:idx val="1"/>
          <c:order val="1"/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val>
            <c:numRef>
              <c:f>Sheet1!$D$4:$D$18</c:f>
              <c:numCache>
                <c:formatCode>General</c:formatCode>
                <c:ptCount val="15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70</c:v>
                </c:pt>
                <c:pt idx="4">
                  <c:v>80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75</c:v>
                </c:pt>
                <c:pt idx="9">
                  <c:v>75</c:v>
                </c:pt>
                <c:pt idx="10">
                  <c:v>70</c:v>
                </c:pt>
                <c:pt idx="11">
                  <c:v>70</c:v>
                </c:pt>
                <c:pt idx="12">
                  <c:v>75</c:v>
                </c:pt>
                <c:pt idx="13">
                  <c:v>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61D-4160-B4D3-87E065087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3235072"/>
        <c:axId val="676745776"/>
      </c:lineChart>
      <c:catAx>
        <c:axId val="253235072"/>
        <c:scaling>
          <c:orientation val="minMax"/>
        </c:scaling>
        <c:delete val="1"/>
        <c:axPos val="b"/>
        <c:majorTickMark val="none"/>
        <c:minorTickMark val="none"/>
        <c:tickLblPos val="nextTo"/>
        <c:crossAx val="676745776"/>
        <c:crosses val="autoZero"/>
        <c:auto val="1"/>
        <c:lblAlgn val="ctr"/>
        <c:lblOffset val="100"/>
        <c:noMultiLvlLbl val="0"/>
      </c:catAx>
      <c:valAx>
        <c:axId val="6767457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53235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70" name="Google Shape;17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7aa5427de9539815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7aa5427de9539815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7aa5427de9539815_5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h7aa5427de9539815_5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h7aa5427de9539815_5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9"/>
          <p:cNvPicPr preferRelativeResize="0"/>
          <p:nvPr/>
        </p:nvPicPr>
        <p:blipFill rotWithShape="1">
          <a:blip r:embed="rId2">
            <a:alphaModFix/>
          </a:blip>
          <a:srcRect b="1660" l="0" r="0" t="0"/>
          <a:stretch/>
        </p:blipFill>
        <p:spPr>
          <a:xfrm>
            <a:off x="-5952" y="140043"/>
            <a:ext cx="12197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urple container&#10;&#10;Description automatically generated" id="89" name="Google Shape;89;p41"/>
          <p:cNvPicPr preferRelativeResize="0"/>
          <p:nvPr/>
        </p:nvPicPr>
        <p:blipFill rotWithShape="1">
          <a:blip r:embed="rId2">
            <a:alphaModFix/>
          </a:blip>
          <a:srcRect b="0" l="0" r="11300" t="0"/>
          <a:stretch/>
        </p:blipFill>
        <p:spPr>
          <a:xfrm>
            <a:off x="-11633" y="0"/>
            <a:ext cx="122036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60">
          <p15:clr>
            <a:srgbClr val="FBAE40"/>
          </p15:clr>
        </p15:guide>
        <p15:guide id="2" pos="2376">
          <p15:clr>
            <a:srgbClr val="FBAE40"/>
          </p15:clr>
        </p15:guide>
        <p15:guide id="3" pos="2520">
          <p15:clr>
            <a:srgbClr val="FBAE40"/>
          </p15:clr>
        </p15:guide>
        <p15:guide id="4" pos="3096">
          <p15:clr>
            <a:srgbClr val="FBAE40"/>
          </p15:clr>
        </p15:guide>
        <p15:guide id="5" pos="3240">
          <p15:clr>
            <a:srgbClr val="FBAE40"/>
          </p15:clr>
        </p15:guide>
        <p15:guide id="6" pos="4536">
          <p15:clr>
            <a:srgbClr val="FBAE40"/>
          </p15:clr>
        </p15:guide>
        <p15:guide id="7" pos="4680">
          <p15:clr>
            <a:srgbClr val="FBAE40"/>
          </p15:clr>
        </p15:guide>
        <p15:guide id="8" pos="5976">
          <p15:clr>
            <a:srgbClr val="FBAE40"/>
          </p15:clr>
        </p15:guide>
        <p15:guide id="9" pos="6120">
          <p15:clr>
            <a:srgbClr val="FBAE40"/>
          </p15:clr>
        </p15:guide>
        <p15:guide id="10" pos="6696">
          <p15:clr>
            <a:srgbClr val="FBAE40"/>
          </p15:clr>
        </p15:guide>
        <p15:guide id="11" pos="6840">
          <p15:clr>
            <a:srgbClr val="FBAE40"/>
          </p15:clr>
        </p15:guide>
        <p15:guide id="12" pos="8856">
          <p15:clr>
            <a:srgbClr val="FBAE40"/>
          </p15:clr>
        </p15:guide>
        <p15:guide id="13" pos="1656">
          <p15:clr>
            <a:srgbClr val="FBAE40"/>
          </p15:clr>
        </p15:guide>
        <p15:guide id="14" pos="1800">
          <p15:clr>
            <a:srgbClr val="FBAE40"/>
          </p15:clr>
        </p15:guide>
        <p15:guide id="15" pos="2232">
          <p15:clr>
            <a:srgbClr val="FBAE40"/>
          </p15:clr>
        </p15:guide>
        <p15:guide id="16" orient="horz" pos="360">
          <p15:clr>
            <a:srgbClr val="FBAE40"/>
          </p15:clr>
        </p15:guide>
        <p15:guide id="17" orient="horz" pos="1296">
          <p15:clr>
            <a:srgbClr val="FBAE40"/>
          </p15:clr>
        </p15:guide>
        <p15:guide id="18" orient="horz" pos="2592">
          <p15:clr>
            <a:srgbClr val="FBAE40"/>
          </p15:clr>
        </p15:guide>
        <p15:guide id="19" orient="horz" pos="2448">
          <p15:clr>
            <a:srgbClr val="FBAE40"/>
          </p15:clr>
        </p15:guide>
        <p15:guide id="20" orient="horz" pos="2736">
          <p15:clr>
            <a:srgbClr val="FBAE40"/>
          </p15:clr>
        </p15:guide>
        <p15:guide id="21" orient="horz" pos="3888">
          <p15:clr>
            <a:srgbClr val="FBAE40"/>
          </p15:clr>
        </p15:guide>
        <p15:guide id="22" orient="horz" pos="4320">
          <p15:clr>
            <a:srgbClr val="FBAE40"/>
          </p15:clr>
        </p15:guide>
        <p15:guide id="23" orient="horz" pos="4824">
          <p15:clr>
            <a:srgbClr val="FBAE40"/>
          </p15:clr>
        </p15:guide>
        <p15:guide id="24" orient="horz" pos="4680">
          <p15:clr>
            <a:srgbClr val="FBAE40"/>
          </p15:clr>
        </p15:guide>
        <p15:guide id="25" pos="4608">
          <p15:clr>
            <a:srgbClr val="FBAE40"/>
          </p15:clr>
        </p15:guide>
        <p15:guide id="26" orient="horz" pos="496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asurement">
  <p:cSld name="Measurement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91" name="Google Shape;91;p53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53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Microsoft Confidential</a:t>
            </a:r>
            <a:endParaRPr/>
          </a:p>
        </p:txBody>
      </p:sp>
      <p:pic>
        <p:nvPicPr>
          <p:cNvPr id="93" name="Google Shape;93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94" name="Google Shape;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95" name="Google Shape;9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munication">
  <p:cSld name="Communication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97" name="Google Shape;97;p54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54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99" name="Google Shape;9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00" name="Google Shape;1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01" name="Google Shape;10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illing">
  <p:cSld name="Skilling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03" name="Google Shape;103;p55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55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05" name="Google Shape;10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06" name="Google Shape;10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07" name="Google Shape;10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versal">
  <p:cSld name="Universal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09" name="Google Shape;109;p56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56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11" name="Google Shape;11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12" name="Google Shape;11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13" name="Google Shape;11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ilot">
  <p:cSld name="Copilot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15" name="Google Shape;115;p57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57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17" name="Google Shape;117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18" name="Google Shape;11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19" name="Google Shape;11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I">
  <p:cSld name="AI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21" name="Google Shape;121;p58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58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23" name="Google Shape;12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24" name="Google Shape;1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25" name="Google Shape;12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g slides (for intro, quotes, etc)">
  <p:cSld name="Light bg slides (for intro, quotes, etc)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38" y="-73643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easurement">
  <p:cSld name="1_Measurement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29" name="Google Shape;129;p60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60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Microsoft Confidential</a:t>
            </a:r>
            <a:endParaRPr/>
          </a:p>
        </p:txBody>
      </p:sp>
      <p:pic>
        <p:nvPicPr>
          <p:cNvPr id="131" name="Google Shape;13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32" name="Google Shape;13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33" name="Google Shape;13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munication">
  <p:cSld name="1_Communication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35" name="Google Shape;135;p61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61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37" name="Google Shape;137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38" name="Google Shape;13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39" name="Google Shape;13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killing">
  <p:cSld name="1_Skilling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41" name="Google Shape;141;p62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62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43" name="Google Shape;14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44" name="Google Shape;14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45" name="Google Shape;14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Universal">
  <p:cSld name="1_Universal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47" name="Google Shape;147;p63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3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49" name="Google Shape;14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50" name="Google Shape;15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51" name="Google Shape;151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pilot">
  <p:cSld name="1_Copilot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53" name="Google Shape;153;p64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64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55" name="Google Shape;1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56" name="Google Shape;15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57" name="Google Shape;15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I">
  <p:cSld name="1_AI">
    <p:bg>
      <p:bgPr>
        <a:gradFill>
          <a:gsLst>
            <a:gs pos="0">
              <a:srgbClr val="ECECEC"/>
            </a:gs>
            <a:gs pos="26000">
              <a:srgbClr val="ECECEC"/>
            </a:gs>
            <a:gs pos="100000">
              <a:srgbClr val="DDE9FA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59" name="Google Shape;159;p65"/>
          <p:cNvSpPr/>
          <p:nvPr/>
        </p:nvSpPr>
        <p:spPr>
          <a:xfrm>
            <a:off x="242561" y="6437626"/>
            <a:ext cx="180771" cy="180726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65"/>
          <p:cNvSpPr txBox="1"/>
          <p:nvPr/>
        </p:nvSpPr>
        <p:spPr>
          <a:xfrm flipH="1" rot="5400000">
            <a:off x="9033558" y="3702472"/>
            <a:ext cx="575945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FBFBF"/>
                </a:solidFill>
                <a:latin typeface="Play"/>
                <a:ea typeface="Play"/>
                <a:cs typeface="Play"/>
                <a:sym typeface="Play"/>
              </a:rPr>
              <a:t>Microsoft Confidential</a:t>
            </a:r>
            <a:endParaRPr/>
          </a:p>
        </p:txBody>
      </p:sp>
      <p:pic>
        <p:nvPicPr>
          <p:cNvPr id="161" name="Google Shape;16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quare white squares on a black background&#10;&#10;Description automatically generated" id="162" name="Google Shape;16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5" y="6431490"/>
            <a:ext cx="212263" cy="212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logo&#10;&#10;Description automatically generated" id="163" name="Google Shape;16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69" y="185475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2 Column" showMasterSp="0">
  <p:cSld name="Blank 12 Colum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extLst>
    <p:ext uri="{DCECCB84-F9BA-43D5-87BE-67443E8EF086}">
      <p15:sldGuideLst>
        <p15:guide id="1" pos="779">
          <p15:clr>
            <a:srgbClr val="A4A3A4"/>
          </p15:clr>
        </p15:guide>
        <p15:guide id="2" pos="962">
          <p15:clr>
            <a:srgbClr val="A4A3A4"/>
          </p15:clr>
        </p15:guide>
        <p15:guide id="3" pos="1373">
          <p15:clr>
            <a:srgbClr val="A4A3A4"/>
          </p15:clr>
        </p15:guide>
        <p15:guide id="4" pos="1556">
          <p15:clr>
            <a:srgbClr val="A4A3A4"/>
          </p15:clr>
        </p15:guide>
        <p15:guide id="5" pos="1967">
          <p15:clr>
            <a:srgbClr val="A4A3A4"/>
          </p15:clr>
        </p15:guide>
        <p15:guide id="6" pos="2150">
          <p15:clr>
            <a:srgbClr val="A4A3A4"/>
          </p15:clr>
        </p15:guide>
        <p15:guide id="7" pos="2561">
          <p15:clr>
            <a:srgbClr val="A4A3A4"/>
          </p15:clr>
        </p15:guide>
        <p15:guide id="8" pos="2744">
          <p15:clr>
            <a:srgbClr val="A4A3A4"/>
          </p15:clr>
        </p15:guide>
        <p15:guide id="9" pos="3161">
          <p15:clr>
            <a:srgbClr val="A4A3A4"/>
          </p15:clr>
        </p15:guide>
        <p15:guide id="10" pos="3348">
          <p15:clr>
            <a:srgbClr val="A4A3A4"/>
          </p15:clr>
        </p15:guide>
        <p15:guide id="11" pos="3754">
          <p15:clr>
            <a:srgbClr val="A4A3A4"/>
          </p15:clr>
        </p15:guide>
        <p15:guide id="12" pos="3931">
          <p15:clr>
            <a:srgbClr val="A4A3A4"/>
          </p15:clr>
        </p15:guide>
        <p15:guide id="13" pos="4342">
          <p15:clr>
            <a:srgbClr val="A4A3A4"/>
          </p15:clr>
        </p15:guide>
        <p15:guide id="14" pos="4531">
          <p15:clr>
            <a:srgbClr val="A4A3A4"/>
          </p15:clr>
        </p15:guide>
        <p15:guide id="15" pos="4937">
          <p15:clr>
            <a:srgbClr val="A4A3A4"/>
          </p15:clr>
        </p15:guide>
        <p15:guide id="16" pos="5120">
          <p15:clr>
            <a:srgbClr val="A4A3A4"/>
          </p15:clr>
        </p15:guide>
        <p15:guide id="17" pos="5529">
          <p15:clr>
            <a:srgbClr val="A4A3A4"/>
          </p15:clr>
        </p15:guide>
        <p15:guide id="18" pos="5714">
          <p15:clr>
            <a:srgbClr val="A4A3A4"/>
          </p15:clr>
        </p15:guide>
        <p15:guide id="19" pos="6123">
          <p15:clr>
            <a:srgbClr val="A4A3A4"/>
          </p15:clr>
        </p15:guide>
        <p15:guide id="20" pos="6308">
          <p15:clr>
            <a:srgbClr val="A4A3A4"/>
          </p15:clr>
        </p15:guide>
        <p15:guide id="21" pos="6717">
          <p15:clr>
            <a:srgbClr val="A4A3A4"/>
          </p15:clr>
        </p15:guide>
        <p15:guide id="22" pos="6900">
          <p15:clr>
            <a:srgbClr val="A4A3A4"/>
          </p15:clr>
        </p15:guide>
        <p15:guide id="23" orient="horz" pos="905">
          <p15:clr>
            <a:srgbClr val="5ACBF0"/>
          </p15:clr>
        </p15:guide>
        <p15:guide id="24" orient="horz" pos="1271">
          <p15:clr>
            <a:srgbClr val="5ACBF0"/>
          </p15:clr>
        </p15:guide>
        <p15:guide id="25" orient="horz" pos="288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7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99"/>
              <a:buFont typeface="DM Sans"/>
              <a:buNone/>
              <a:defRPr b="0" i="0" sz="4999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pos="3840">
          <p15:clr>
            <a:srgbClr val="A4A3A4"/>
          </p15:clr>
        </p15:guide>
        <p15:guide id="2" orient="horz" pos="905">
          <p15:clr>
            <a:srgbClr val="5ACBF0"/>
          </p15:clr>
        </p15:guide>
        <p15:guide id="3" orient="horz" pos="1271">
          <p15:clr>
            <a:srgbClr val="5ACBF0"/>
          </p15:clr>
        </p15:guide>
        <p15:guide id="4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purple logo&#10;&#10;Description automatically generated" id="87" name="Google Shape;87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11069" y="267667"/>
            <a:ext cx="250006" cy="25000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06">
          <p15:clr>
            <a:srgbClr val="A4A3A4"/>
          </p15:clr>
        </p15:guide>
        <p15:guide id="2" pos="7174">
          <p15:clr>
            <a:srgbClr val="A4A3A4"/>
          </p15:clr>
        </p15:guide>
        <p15:guide id="3" orient="horz" pos="527">
          <p15:clr>
            <a:srgbClr val="A4A3A4"/>
          </p15:clr>
        </p15:guide>
        <p15:guide id="4" orient="horz" pos="3793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1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Relationship Id="rId4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Relationship Id="rId4" Type="http://schemas.openxmlformats.org/officeDocument/2006/relationships/hyperlink" Target="https://forms.gle/ovnAGxqh3kiuyzCG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"/>
          <p:cNvSpPr txBox="1"/>
          <p:nvPr/>
        </p:nvSpPr>
        <p:spPr>
          <a:xfrm>
            <a:off x="2223899" y="3242550"/>
            <a:ext cx="381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Presenter: 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Virat Singh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0" y="6656439"/>
            <a:ext cx="12223845" cy="201561"/>
          </a:xfrm>
          <a:prstGeom prst="rect">
            <a:avLst/>
          </a:prstGeom>
          <a:gradFill>
            <a:gsLst>
              <a:gs pos="0">
                <a:srgbClr val="FF5C39"/>
              </a:gs>
              <a:gs pos="6000">
                <a:srgbClr val="FF5C39"/>
              </a:gs>
              <a:gs pos="32000">
                <a:srgbClr val="C03BC4"/>
              </a:gs>
              <a:gs pos="56000">
                <a:srgbClr val="0078D4"/>
              </a:gs>
              <a:gs pos="84000">
                <a:srgbClr val="399A91"/>
              </a:gs>
              <a:gs pos="100000">
                <a:srgbClr val="399A9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2307825" y="2403268"/>
            <a:ext cx="7726001" cy="53621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0077D3"/>
                    </a:gs>
                    <a:gs pos="2000">
                      <a:srgbClr val="0077D3"/>
                    </a:gs>
                    <a:gs pos="100000">
                      <a:srgbClr val="C73ECC"/>
                    </a:gs>
                  </a:gsLst>
                  <a:lin ang="2698631" scaled="0"/>
                </a:gradFill>
                <a:latin typeface="Google Sans;600"/>
              </a:rPr>
              <a:t>Product Management Metrics</a:t>
            </a: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"/>
          <p:cNvSpPr txBox="1"/>
          <p:nvPr/>
        </p:nvSpPr>
        <p:spPr>
          <a:xfrm>
            <a:off x="978201" y="2859750"/>
            <a:ext cx="91875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oogle Sans"/>
                <a:ea typeface="Google Sans"/>
                <a:cs typeface="Google Sans"/>
                <a:sym typeface="Google Sans"/>
              </a:rPr>
              <a:t>You’re a PM at YouTube. What metrics </a:t>
            </a:r>
            <a:endParaRPr sz="3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oogle Sans"/>
                <a:ea typeface="Google Sans"/>
                <a:cs typeface="Google Sans"/>
                <a:sym typeface="Google Sans"/>
              </a:rPr>
              <a:t>would you put on your dashboard to </a:t>
            </a:r>
            <a:endParaRPr sz="3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oogle Sans"/>
                <a:ea typeface="Google Sans"/>
                <a:cs typeface="Google Sans"/>
                <a:sym typeface="Google Sans"/>
              </a:rPr>
              <a:t>make YouTube more successful?</a:t>
            </a:r>
            <a:endParaRPr sz="32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0" y="6656439"/>
            <a:ext cx="12223845" cy="201561"/>
          </a:xfrm>
          <a:prstGeom prst="rect">
            <a:avLst/>
          </a:prstGeom>
          <a:gradFill>
            <a:gsLst>
              <a:gs pos="0">
                <a:srgbClr val="FF5C39"/>
              </a:gs>
              <a:gs pos="6000">
                <a:srgbClr val="FF5C39"/>
              </a:gs>
              <a:gs pos="32000">
                <a:srgbClr val="C03BC4"/>
              </a:gs>
              <a:gs pos="56000">
                <a:srgbClr val="0078D4"/>
              </a:gs>
              <a:gs pos="84000">
                <a:srgbClr val="399A91"/>
              </a:gs>
              <a:gs pos="100000">
                <a:srgbClr val="399A9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1082100" y="1641268"/>
            <a:ext cx="6162353" cy="441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0077D3"/>
                    </a:gs>
                    <a:gs pos="2000">
                      <a:srgbClr val="0077D3"/>
                    </a:gs>
                    <a:gs pos="100000">
                      <a:srgbClr val="C73ECC"/>
                    </a:gs>
                  </a:gsLst>
                  <a:lin ang="2698631" scaled="0"/>
                </a:gradFill>
                <a:latin typeface="Google Sans;600"/>
              </a:rPr>
              <a:t>Real Interview Question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"/>
          <p:cNvSpPr/>
          <p:nvPr/>
        </p:nvSpPr>
        <p:spPr>
          <a:xfrm>
            <a:off x="3736428" y="0"/>
            <a:ext cx="84555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5"/>
              <a:buFont typeface="Calibri"/>
              <a:buNone/>
            </a:pPr>
            <a:r>
              <a:t/>
            </a:r>
            <a:endParaRPr b="0" i="0" sz="176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container&#10;&#10;Description automatically generated" id="188" name="Google Shape;188;p3"/>
          <p:cNvPicPr preferRelativeResize="0"/>
          <p:nvPr/>
        </p:nvPicPr>
        <p:blipFill rotWithShape="1">
          <a:blip r:embed="rId3">
            <a:alphaModFix/>
          </a:blip>
          <a:srcRect b="-1" l="85" r="72757" t="-1"/>
          <a:stretch/>
        </p:blipFill>
        <p:spPr>
          <a:xfrm>
            <a:off x="0" y="0"/>
            <a:ext cx="373642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"/>
          <p:cNvSpPr/>
          <p:nvPr/>
        </p:nvSpPr>
        <p:spPr>
          <a:xfrm>
            <a:off x="0" y="0"/>
            <a:ext cx="3736428" cy="6858000"/>
          </a:xfrm>
          <a:prstGeom prst="roundRect">
            <a:avLst>
              <a:gd fmla="val 0" name="adj"/>
            </a:avLst>
          </a:prstGeom>
          <a:gradFill>
            <a:gsLst>
              <a:gs pos="0">
                <a:schemeClr val="accent2"/>
              </a:gs>
              <a:gs pos="100000">
                <a:srgbClr val="6993FA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  <a:effectLst>
            <a:outerShdw blurRad="50800" rotWithShape="0" algn="tl" dir="2700000" dist="38100">
              <a:srgbClr val="000000">
                <a:alpha val="10196"/>
              </a:srgbClr>
            </a:outerShdw>
          </a:effectLst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342771" y="2901163"/>
            <a:ext cx="30510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i="0" lang="en-US" sz="5400" u="none" cap="none" strike="noStrike">
                <a:solidFill>
                  <a:srgbClr val="FFFFFF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Agenda</a:t>
            </a:r>
            <a:endParaRPr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4421975" y="1418750"/>
            <a:ext cx="7084500" cy="4380900"/>
          </a:xfrm>
          <a:prstGeom prst="roundRect">
            <a:avLst>
              <a:gd fmla="val 4862" name="adj"/>
            </a:avLst>
          </a:prstGeom>
          <a:solidFill>
            <a:schemeClr val="lt1"/>
          </a:solidFill>
          <a:ln>
            <a:noFill/>
          </a:ln>
          <a:effectLst>
            <a:outerShdw blurRad="351112" sx="102000" rotWithShape="0" algn="ctr" sy="102000">
              <a:srgbClr val="000000">
                <a:alpha val="11373"/>
              </a:srgbClr>
            </a:outerShdw>
          </a:effectLst>
        </p:spPr>
        <p:txBody>
          <a:bodyPr anchorCtr="0" anchor="ctr" bIns="360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4742262" y="1859301"/>
            <a:ext cx="64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i="0" lang="en-US" sz="2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Why does this matter?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4742262" y="3895791"/>
            <a:ext cx="64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Framework</a:t>
            </a:r>
            <a:endParaRPr i="0" sz="2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4742262" y="4914035"/>
            <a:ext cx="64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i="0" lang="en-US" sz="2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mock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95" name="Google Shape;195;p3"/>
          <p:cNvGrpSpPr/>
          <p:nvPr/>
        </p:nvGrpSpPr>
        <p:grpSpPr>
          <a:xfrm>
            <a:off x="4845233" y="2578431"/>
            <a:ext cx="6237961" cy="1044188"/>
            <a:chOff x="5035463" y="3046874"/>
            <a:chExt cx="2492679" cy="1525045"/>
          </a:xfrm>
        </p:grpSpPr>
        <p:cxnSp>
          <p:nvCxnSpPr>
            <p:cNvPr id="196" name="Google Shape;196;p3"/>
            <p:cNvCxnSpPr/>
            <p:nvPr/>
          </p:nvCxnSpPr>
          <p:spPr>
            <a:xfrm>
              <a:off x="5035463" y="3046874"/>
              <a:ext cx="2492679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"/>
            <p:cNvCxnSpPr/>
            <p:nvPr/>
          </p:nvCxnSpPr>
          <p:spPr>
            <a:xfrm>
              <a:off x="5035463" y="4571919"/>
              <a:ext cx="2492679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8" name="Google Shape;198;p3"/>
          <p:cNvSpPr txBox="1"/>
          <p:nvPr/>
        </p:nvSpPr>
        <p:spPr>
          <a:xfrm>
            <a:off x="4723682" y="2877546"/>
            <a:ext cx="687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i="0" lang="en-US" sz="2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Sample interview questions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99" name="Google Shape;199;p3"/>
          <p:cNvCxnSpPr/>
          <p:nvPr/>
        </p:nvCxnSpPr>
        <p:spPr>
          <a:xfrm>
            <a:off x="4863811" y="4599849"/>
            <a:ext cx="6237961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"/>
          <p:cNvSpPr txBox="1"/>
          <p:nvPr/>
        </p:nvSpPr>
        <p:spPr>
          <a:xfrm>
            <a:off x="1393001" y="1213125"/>
            <a:ext cx="383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About me</a:t>
            </a:r>
            <a:endParaRPr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1436048" y="2070951"/>
            <a:ext cx="5547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Virat Singh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Product @     Microsoft,     Razorpay</a:t>
            </a:r>
            <a:endParaRPr sz="2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SWE @     Amazon,       Meta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President, BTC @      ISB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6" name="Google Shape;2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768" y="2624278"/>
            <a:ext cx="262717" cy="23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6758" y="2575625"/>
            <a:ext cx="376696" cy="29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9243" y="3072097"/>
            <a:ext cx="561814" cy="29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3143" y="4014029"/>
            <a:ext cx="294625" cy="28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"/>
          <p:cNvPicPr preferRelativeResize="0"/>
          <p:nvPr/>
        </p:nvPicPr>
        <p:blipFill rotWithShape="1">
          <a:blip r:embed="rId7">
            <a:alphaModFix/>
          </a:blip>
          <a:srcRect b="1587" l="0" r="-1613" t="0"/>
          <a:stretch/>
        </p:blipFill>
        <p:spPr>
          <a:xfrm>
            <a:off x="2303117" y="3084802"/>
            <a:ext cx="309716" cy="299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smiling in front of a city skyline&#10;&#10;AI-generated content may be incorrect." id="211" name="Google Shape;211;p4"/>
          <p:cNvPicPr preferRelativeResize="0"/>
          <p:nvPr/>
        </p:nvPicPr>
        <p:blipFill rotWithShape="1">
          <a:blip r:embed="rId8">
            <a:alphaModFix/>
          </a:blip>
          <a:srcRect b="5715" l="234" r="8061" t="6285"/>
          <a:stretch/>
        </p:blipFill>
        <p:spPr>
          <a:xfrm>
            <a:off x="6986019" y="1305556"/>
            <a:ext cx="3836822" cy="39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2" name="Google Shape;212;p4"/>
          <p:cNvSpPr/>
          <p:nvPr/>
        </p:nvSpPr>
        <p:spPr>
          <a:xfrm>
            <a:off x="0" y="6656439"/>
            <a:ext cx="12223845" cy="201561"/>
          </a:xfrm>
          <a:prstGeom prst="rect">
            <a:avLst/>
          </a:prstGeom>
          <a:gradFill>
            <a:gsLst>
              <a:gs pos="0">
                <a:srgbClr val="FF5C39"/>
              </a:gs>
              <a:gs pos="6000">
                <a:srgbClr val="FF5C39"/>
              </a:gs>
              <a:gs pos="32000">
                <a:srgbClr val="C03BC4"/>
              </a:gs>
              <a:gs pos="56000">
                <a:srgbClr val="0078D4"/>
              </a:gs>
              <a:gs pos="84000">
                <a:srgbClr val="399A91"/>
              </a:gs>
              <a:gs pos="100000">
                <a:srgbClr val="399A9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 txBox="1"/>
          <p:nvPr/>
        </p:nvSpPr>
        <p:spPr>
          <a:xfrm>
            <a:off x="2450550" y="2642775"/>
            <a:ext cx="7290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“What cannot be </a:t>
            </a: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measured </a:t>
            </a:r>
            <a:r>
              <a:rPr lang="en-US" sz="4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cannot be </a:t>
            </a: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managed</a:t>
            </a:r>
            <a:r>
              <a:rPr lang="en-US" sz="4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.”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0" y="6656439"/>
            <a:ext cx="12223800" cy="201600"/>
          </a:xfrm>
          <a:prstGeom prst="rect">
            <a:avLst/>
          </a:prstGeom>
          <a:gradFill>
            <a:gsLst>
              <a:gs pos="0">
                <a:srgbClr val="FF5C39"/>
              </a:gs>
              <a:gs pos="6000">
                <a:srgbClr val="FF5C39"/>
              </a:gs>
              <a:gs pos="32000">
                <a:srgbClr val="C03BC4"/>
              </a:gs>
              <a:gs pos="56000">
                <a:srgbClr val="0078D4"/>
              </a:gs>
              <a:gs pos="84000">
                <a:srgbClr val="399A91"/>
              </a:gs>
              <a:gs pos="100000">
                <a:srgbClr val="399A9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0" y="1114986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1667436" y="1151965"/>
            <a:ext cx="13821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GMV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 rot="-849976">
            <a:off x="3430521" y="761045"/>
            <a:ext cx="10713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LTV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-2109974">
            <a:off x="5214572" y="496582"/>
            <a:ext cx="115288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D30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 rot="790751">
            <a:off x="7090969" y="593264"/>
            <a:ext cx="15664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ARPU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 rot="2461283">
            <a:off x="8735663" y="1611221"/>
            <a:ext cx="126855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AOV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 rot="-1361279">
            <a:off x="2379617" y="2295586"/>
            <a:ext cx="13452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MRR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 rot="790494">
            <a:off x="2233120" y="3890014"/>
            <a:ext cx="1064827" cy="7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CES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 rot="1262300">
            <a:off x="2956206" y="5523787"/>
            <a:ext cx="1514238" cy="707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CSAT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 rot="-1729710">
            <a:off x="5316665" y="5602636"/>
            <a:ext cx="17574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CTR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 rot="1598683">
            <a:off x="7593872" y="5890778"/>
            <a:ext cx="17574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NPS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 rot="-1729710">
            <a:off x="8603658" y="4789743"/>
            <a:ext cx="17574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MAU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63912" y="3073520"/>
            <a:ext cx="17574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CAC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/>
          <p:nvPr/>
        </p:nvSpPr>
        <p:spPr>
          <a:xfrm>
            <a:off x="1077986" y="1122519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Real interview questions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1077975" y="2542525"/>
            <a:ext cx="100566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Char char="•"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Measure the success of Instagram stories.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Char char="•"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Is ChatGPT in trouble or thriving?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Char char="•"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What metrics would you prioritize for Spotify?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7aa5427de9539815_2_6"/>
          <p:cNvSpPr/>
          <p:nvPr/>
        </p:nvSpPr>
        <p:spPr>
          <a:xfrm>
            <a:off x="1174967" y="1879893"/>
            <a:ext cx="2911200" cy="47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6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Clarity &amp; Main Goal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7" name="Google Shape;247;h7aa5427de9539815_2_6"/>
          <p:cNvSpPr txBox="1"/>
          <p:nvPr/>
        </p:nvSpPr>
        <p:spPr>
          <a:xfrm>
            <a:off x="1145098" y="644346"/>
            <a:ext cx="609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Framework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48" name="Google Shape;248;h7aa5427de9539815_2_6"/>
          <p:cNvSpPr/>
          <p:nvPr/>
        </p:nvSpPr>
        <p:spPr>
          <a:xfrm>
            <a:off x="1174967" y="2706230"/>
            <a:ext cx="2911200" cy="47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6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PIRATE Structure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9" name="Google Shape;249;h7aa5427de9539815_2_6"/>
          <p:cNvSpPr/>
          <p:nvPr/>
        </p:nvSpPr>
        <p:spPr>
          <a:xfrm>
            <a:off x="1174967" y="3532546"/>
            <a:ext cx="2911200" cy="47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6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Industry Alignment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0" name="Google Shape;250;h7aa5427de9539815_2_6"/>
          <p:cNvSpPr/>
          <p:nvPr/>
        </p:nvSpPr>
        <p:spPr>
          <a:xfrm>
            <a:off x="1174967" y="4358862"/>
            <a:ext cx="2911200" cy="47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6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Metric Trees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1" name="Google Shape;251;h7aa5427de9539815_2_6"/>
          <p:cNvSpPr/>
          <p:nvPr/>
        </p:nvSpPr>
        <p:spPr>
          <a:xfrm>
            <a:off x="1174967" y="5185178"/>
            <a:ext cx="2911200" cy="47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6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Follow-up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h7aa5427de9539815_2_6"/>
          <p:cNvSpPr/>
          <p:nvPr/>
        </p:nvSpPr>
        <p:spPr>
          <a:xfrm>
            <a:off x="1317071" y="2807926"/>
            <a:ext cx="274200" cy="27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3" name="Google Shape;253;h7aa5427de9539815_2_6"/>
          <p:cNvSpPr/>
          <p:nvPr/>
        </p:nvSpPr>
        <p:spPr>
          <a:xfrm>
            <a:off x="1317071" y="3634242"/>
            <a:ext cx="274200" cy="27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4" name="Google Shape;254;h7aa5427de9539815_2_6"/>
          <p:cNvSpPr/>
          <p:nvPr/>
        </p:nvSpPr>
        <p:spPr>
          <a:xfrm>
            <a:off x="1317071" y="4460558"/>
            <a:ext cx="274200" cy="27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5" name="Google Shape;255;h7aa5427de9539815_2_6"/>
          <p:cNvSpPr/>
          <p:nvPr/>
        </p:nvSpPr>
        <p:spPr>
          <a:xfrm>
            <a:off x="1317071" y="5286874"/>
            <a:ext cx="274200" cy="27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5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6" name="Google Shape;256;h7aa5427de9539815_2_6"/>
          <p:cNvSpPr/>
          <p:nvPr/>
        </p:nvSpPr>
        <p:spPr>
          <a:xfrm>
            <a:off x="1317134" y="1981726"/>
            <a:ext cx="274200" cy="27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/>
          <p:nvPr/>
        </p:nvSpPr>
        <p:spPr>
          <a:xfrm>
            <a:off x="1145098" y="64434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Framework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174967" y="1879914"/>
            <a:ext cx="6152816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0000"/>
              </a:gs>
              <a:gs pos="100000">
                <a:srgbClr val="C73ECC"/>
              </a:gs>
            </a:gsLst>
            <a:lin ang="135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      Clarity &amp; Main Goal – Clarification Questions</a:t>
            </a:r>
            <a:endParaRPr sz="1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174967" y="2706230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PIRATE Structure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174967" y="3532546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Industry Alignment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174967" y="4358862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Metric Trees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174967" y="5185178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Follow-up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317071" y="2807926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317071" y="3634242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317071" y="4460558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317071" y="5286874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5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7580625" y="1826268"/>
            <a:ext cx="402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Understand everything </a:t>
            </a:r>
            <a:endParaRPr i="1"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about the question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317134" y="1981726"/>
            <a:ext cx="274200" cy="27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/>
          <p:nvPr/>
        </p:nvSpPr>
        <p:spPr>
          <a:xfrm>
            <a:off x="1077986" y="1122519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Clarification Questions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1077972" y="2544825"/>
            <a:ext cx="64959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You need to clarify two things: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What is the </a:t>
            </a:r>
            <a:r>
              <a:rPr lang="en-US" sz="2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main goal</a:t>
            </a: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What is the </a:t>
            </a:r>
            <a:r>
              <a:rPr lang="en-US" sz="2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business model</a:t>
            </a:r>
            <a:r>
              <a:rPr lang="en-US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 txBox="1"/>
          <p:nvPr/>
        </p:nvSpPr>
        <p:spPr>
          <a:xfrm>
            <a:off x="1145098" y="64434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Framework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174967" y="3532546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Industry Alignment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174967" y="4358862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Metric Trees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174967" y="5185178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Follow-up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87" name="Google Shape;287;p10"/>
          <p:cNvGrpSpPr/>
          <p:nvPr/>
        </p:nvGrpSpPr>
        <p:grpSpPr>
          <a:xfrm>
            <a:off x="1174967" y="2706230"/>
            <a:ext cx="6152816" cy="477712"/>
            <a:chOff x="1174967" y="1879914"/>
            <a:chExt cx="6152816" cy="477712"/>
          </a:xfrm>
        </p:grpSpPr>
        <p:sp>
          <p:nvSpPr>
            <p:cNvPr id="288" name="Google Shape;288;p10"/>
            <p:cNvSpPr/>
            <p:nvPr/>
          </p:nvSpPr>
          <p:spPr>
            <a:xfrm>
              <a:off x="1174967" y="1879914"/>
              <a:ext cx="6152816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0000"/>
                </a:gs>
                <a:gs pos="100000">
                  <a:srgbClr val="C73ECC"/>
                </a:gs>
              </a:gsLst>
              <a:lin ang="135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        PIRATE Structure – AARRR </a:t>
              </a:r>
              <a:endPara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317071" y="1981610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2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174967" y="1875138"/>
            <a:ext cx="2911120" cy="477712"/>
            <a:chOff x="1174967" y="2706230"/>
            <a:chExt cx="2911120" cy="477712"/>
          </a:xfrm>
        </p:grpSpPr>
        <p:sp>
          <p:nvSpPr>
            <p:cNvPr id="291" name="Google Shape;291;p10"/>
            <p:cNvSpPr/>
            <p:nvPr/>
          </p:nvSpPr>
          <p:spPr>
            <a:xfrm>
              <a:off x="1174967" y="2706230"/>
              <a:ext cx="2911120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77D3"/>
                </a:gs>
                <a:gs pos="2000">
                  <a:srgbClr val="0077D3"/>
                </a:gs>
                <a:gs pos="100000">
                  <a:srgbClr val="C73EC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Clarity &amp; Main Goal</a:t>
              </a:r>
              <a:endParaRPr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1317071" y="2807926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1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293" name="Google Shape;293;p10"/>
          <p:cNvSpPr/>
          <p:nvPr/>
        </p:nvSpPr>
        <p:spPr>
          <a:xfrm>
            <a:off x="1317071" y="3634242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317071" y="4460558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317071" y="5286874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5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7614174" y="2775800"/>
            <a:ext cx="29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Define the </a:t>
            </a:r>
            <a:r>
              <a:rPr i="1" lang="en-US" sz="16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main goal 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3046602" y="52270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“Pirate” – AARRR 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630739" y="1916765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6630752" y="1916775"/>
            <a:ext cx="12657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00" lIns="20300" spcFirstLastPara="1" rIns="20300" wrap="square" tIns="20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Acquisition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162145" y="1886344"/>
            <a:ext cx="3934353" cy="3934353"/>
          </a:xfrm>
          <a:custGeom>
            <a:rect b="b" l="l" r="r" t="t"/>
            <a:pathLst>
              <a:path extrusionOk="0" h="120000" w="120000">
                <a:moveTo>
                  <a:pt x="108082" y="31606"/>
                </a:moveTo>
                <a:cubicBezTo>
                  <a:pt x="112356" y="38844"/>
                  <a:pt x="114941" y="46953"/>
                  <a:pt x="115644" y="55329"/>
                </a:cubicBezTo>
                <a:lnTo>
                  <a:pt x="119790" y="55364"/>
                </a:lnTo>
                <a:lnTo>
                  <a:pt x="112718" y="60447"/>
                </a:lnTo>
                <a:lnTo>
                  <a:pt x="105230" y="55241"/>
                </a:lnTo>
                <a:lnTo>
                  <a:pt x="109374" y="55276"/>
                </a:lnTo>
                <a:cubicBezTo>
                  <a:pt x="108682" y="48038"/>
                  <a:pt x="106406" y="41040"/>
                  <a:pt x="102709" y="34779"/>
                </a:cubicBezTo>
                <a:close/>
              </a:path>
            </a:pathLst>
          </a:custGeom>
          <a:solidFill>
            <a:srgbClr val="0F9BD4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7264843" y="3868337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7264843" y="3868337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00" lIns="20300" spcFirstLastPara="1" rIns="20300" wrap="square" tIns="20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Activation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379670" y="1746094"/>
            <a:ext cx="3934500" cy="3934500"/>
          </a:xfrm>
          <a:custGeom>
            <a:rect b="b" l="l" r="r" t="t"/>
            <a:pathLst>
              <a:path extrusionOk="0" h="120000" w="120000">
                <a:moveTo>
                  <a:pt x="104267" y="94037"/>
                </a:moveTo>
                <a:cubicBezTo>
                  <a:pt x="98359" y="101721"/>
                  <a:pt x="90552" y="107734"/>
                  <a:pt x="81615" y="111486"/>
                </a:cubicBezTo>
                <a:lnTo>
                  <a:pt x="82862" y="115441"/>
                </a:lnTo>
                <a:lnTo>
                  <a:pt x="75844" y="110283"/>
                </a:lnTo>
                <a:lnTo>
                  <a:pt x="78486" y="101553"/>
                </a:lnTo>
                <a:lnTo>
                  <a:pt x="79731" y="105506"/>
                </a:lnTo>
                <a:cubicBezTo>
                  <a:pt x="87450" y="102159"/>
                  <a:pt x="94192" y="96903"/>
                  <a:pt x="99320" y="90233"/>
                </a:cubicBezTo>
                <a:close/>
              </a:path>
            </a:pathLst>
          </a:custGeom>
          <a:solidFill>
            <a:srgbClr val="1644C5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604737" y="5074475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5604737" y="4971898"/>
            <a:ext cx="10491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00" lIns="20300" spcFirstLastPara="1" rIns="20300" wrap="square" tIns="20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Retention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944620" y="1746019"/>
            <a:ext cx="3934500" cy="3934500"/>
          </a:xfrm>
          <a:custGeom>
            <a:rect b="b" l="l" r="r" t="t"/>
            <a:pathLst>
              <a:path extrusionOk="0" h="120000" w="120000">
                <a:moveTo>
                  <a:pt x="43219" y="113258"/>
                </a:moveTo>
                <a:cubicBezTo>
                  <a:pt x="33974" y="110345"/>
                  <a:pt x="25647" y="105076"/>
                  <a:pt x="19056" y="97969"/>
                </a:cubicBezTo>
                <a:lnTo>
                  <a:pt x="15769" y="100497"/>
                </a:lnTo>
                <a:lnTo>
                  <a:pt x="18207" y="92135"/>
                </a:lnTo>
                <a:lnTo>
                  <a:pt x="27312" y="91621"/>
                </a:lnTo>
                <a:lnTo>
                  <a:pt x="24027" y="94147"/>
                </a:lnTo>
                <a:cubicBezTo>
                  <a:pt x="29819" y="100250"/>
                  <a:pt x="37069" y="104778"/>
                  <a:pt x="45094" y="107307"/>
                </a:cubicBezTo>
                <a:close/>
              </a:path>
            </a:pathLst>
          </a:custGeom>
          <a:solidFill>
            <a:srgbClr val="3B1DB8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944630" y="3868337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3944630" y="3868337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00" lIns="20300" spcFirstLastPara="1" rIns="20300" wrap="square" tIns="20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Revenue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162145" y="1886344"/>
            <a:ext cx="3934353" cy="3934353"/>
          </a:xfrm>
          <a:custGeom>
            <a:rect b="b" l="l" r="r" t="t"/>
            <a:pathLst>
              <a:path extrusionOk="0" h="120000" w="120000">
                <a:moveTo>
                  <a:pt x="4162" y="60474"/>
                </a:moveTo>
                <a:cubicBezTo>
                  <a:pt x="4091" y="52069"/>
                  <a:pt x="5918" y="43756"/>
                  <a:pt x="9507" y="36155"/>
                </a:cubicBezTo>
                <a:lnTo>
                  <a:pt x="5937" y="34047"/>
                </a:lnTo>
                <a:lnTo>
                  <a:pt x="14605" y="33193"/>
                </a:lnTo>
                <a:lnTo>
                  <a:pt x="18475" y="41451"/>
                </a:lnTo>
                <a:lnTo>
                  <a:pt x="14906" y="39344"/>
                </a:lnTo>
                <a:cubicBezTo>
                  <a:pt x="11878" y="45954"/>
                  <a:pt x="10340" y="53150"/>
                  <a:pt x="10402" y="60421"/>
                </a:cubicBezTo>
                <a:close/>
              </a:path>
            </a:pathLst>
          </a:custGeom>
          <a:solidFill>
            <a:srgbClr val="7C23AB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578734" y="1916765"/>
            <a:ext cx="1049170" cy="104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4578734" y="2024878"/>
            <a:ext cx="10491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00" lIns="20300" spcFirstLastPara="1" rIns="20300" wrap="square" tIns="20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Referral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162145" y="1886344"/>
            <a:ext cx="3934353" cy="3934353"/>
          </a:xfrm>
          <a:custGeom>
            <a:rect b="b" l="l" r="r" t="t"/>
            <a:pathLst>
              <a:path extrusionOk="0" h="120000" w="120000">
                <a:moveTo>
                  <a:pt x="43960" y="6514"/>
                </a:moveTo>
                <a:cubicBezTo>
                  <a:pt x="52749" y="3878"/>
                  <a:pt x="62052" y="3449"/>
                  <a:pt x="71046" y="5264"/>
                </a:cubicBezTo>
                <a:lnTo>
                  <a:pt x="72237" y="1292"/>
                </a:lnTo>
                <a:lnTo>
                  <a:pt x="75144" y="9502"/>
                </a:lnTo>
                <a:lnTo>
                  <a:pt x="68054" y="15239"/>
                </a:lnTo>
                <a:lnTo>
                  <a:pt x="69245" y="11270"/>
                </a:lnTo>
                <a:cubicBezTo>
                  <a:pt x="61429" y="9787"/>
                  <a:pt x="53372" y="10206"/>
                  <a:pt x="45752" y="12491"/>
                </a:cubicBezTo>
                <a:close/>
              </a:path>
            </a:pathLst>
          </a:custGeom>
          <a:solidFill>
            <a:srgbClr val="9E2A9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 txBox="1"/>
          <p:nvPr/>
        </p:nvSpPr>
        <p:spPr>
          <a:xfrm>
            <a:off x="3046602" y="52270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“Pirate” Metrics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322" name="Google Shape;322;p12"/>
          <p:cNvCxnSpPr/>
          <p:nvPr/>
        </p:nvCxnSpPr>
        <p:spPr>
          <a:xfrm>
            <a:off x="1375794" y="2562837"/>
            <a:ext cx="922369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oval"/>
            <a:tailEnd len="med" w="med" type="oval"/>
          </a:ln>
        </p:spPr>
      </p:cxnSp>
      <p:sp>
        <p:nvSpPr>
          <p:cNvPr id="323" name="Google Shape;323;p12"/>
          <p:cNvSpPr txBox="1"/>
          <p:nvPr/>
        </p:nvSpPr>
        <p:spPr>
          <a:xfrm>
            <a:off x="3803626" y="2088850"/>
            <a:ext cx="13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Activation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5646499" y="2088850"/>
            <a:ext cx="129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Retention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7453299" y="2088850"/>
            <a:ext cx="11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Revenue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9143524" y="2088850"/>
            <a:ext cx="11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Referral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1800126" y="2089075"/>
            <a:ext cx="15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Acquisition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1696748" y="3185725"/>
            <a:ext cx="2497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CTR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impressions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Bounce rate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Organic traffic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SEO / GEO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Inorganic traffic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Promotions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CAC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29" name="Google Shape;329;p12"/>
          <p:cNvCxnSpPr/>
          <p:nvPr/>
        </p:nvCxnSpPr>
        <p:spPr>
          <a:xfrm>
            <a:off x="2434205" y="2562837"/>
            <a:ext cx="0" cy="4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none"/>
            <a:tailEnd len="med" w="med" type="oval"/>
          </a:ln>
        </p:spPr>
      </p:cxn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 txBox="1"/>
          <p:nvPr/>
        </p:nvSpPr>
        <p:spPr>
          <a:xfrm>
            <a:off x="3046602" y="52270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“Pirate” Metrics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335" name="Google Shape;335;p13"/>
          <p:cNvCxnSpPr/>
          <p:nvPr/>
        </p:nvCxnSpPr>
        <p:spPr>
          <a:xfrm>
            <a:off x="1375794" y="2562837"/>
            <a:ext cx="922369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oval"/>
            <a:tailEnd len="med" w="med" type="oval"/>
          </a:ln>
        </p:spPr>
      </p:cxnSp>
      <p:sp>
        <p:nvSpPr>
          <p:cNvPr id="336" name="Google Shape;336;p13"/>
          <p:cNvSpPr txBox="1"/>
          <p:nvPr/>
        </p:nvSpPr>
        <p:spPr>
          <a:xfrm>
            <a:off x="5646498" y="2088850"/>
            <a:ext cx="12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Retention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7453299" y="2088850"/>
            <a:ext cx="11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Revenue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9143524" y="2088850"/>
            <a:ext cx="11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Referral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1800126" y="2089075"/>
            <a:ext cx="15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Acquisition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340" name="Google Shape;340;p13"/>
          <p:cNvCxnSpPr/>
          <p:nvPr/>
        </p:nvCxnSpPr>
        <p:spPr>
          <a:xfrm>
            <a:off x="4406698" y="2562837"/>
            <a:ext cx="0" cy="43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none"/>
            <a:tailEnd len="med" w="med" type="oval"/>
          </a:ln>
        </p:spPr>
      </p:cxnSp>
      <p:sp>
        <p:nvSpPr>
          <p:cNvPr id="341" name="Google Shape;341;p13"/>
          <p:cNvSpPr txBox="1"/>
          <p:nvPr/>
        </p:nvSpPr>
        <p:spPr>
          <a:xfrm>
            <a:off x="3797797" y="2088857"/>
            <a:ext cx="12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Activation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3159124" y="3160550"/>
            <a:ext cx="40308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Conversion rate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Download rate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Account created rate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Time to first purchase / action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CES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Trial-to-purchase ratio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 txBox="1"/>
          <p:nvPr/>
        </p:nvSpPr>
        <p:spPr>
          <a:xfrm>
            <a:off x="3046602" y="52270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“Pirate” Metrics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348" name="Google Shape;348;p14"/>
          <p:cNvCxnSpPr/>
          <p:nvPr/>
        </p:nvCxnSpPr>
        <p:spPr>
          <a:xfrm>
            <a:off x="1375794" y="2562837"/>
            <a:ext cx="922369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oval"/>
            <a:tailEnd len="med" w="med" type="oval"/>
          </a:ln>
        </p:spPr>
      </p:cxnSp>
      <p:sp>
        <p:nvSpPr>
          <p:cNvPr id="349" name="Google Shape;349;p14"/>
          <p:cNvSpPr txBox="1"/>
          <p:nvPr/>
        </p:nvSpPr>
        <p:spPr>
          <a:xfrm>
            <a:off x="3803626" y="2088850"/>
            <a:ext cx="135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Activation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7453299" y="2088850"/>
            <a:ext cx="125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Revenue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9143525" y="2088850"/>
            <a:ext cx="105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Referral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52" name="Google Shape;352;p14"/>
          <p:cNvSpPr txBox="1"/>
          <p:nvPr/>
        </p:nvSpPr>
        <p:spPr>
          <a:xfrm>
            <a:off x="1800127" y="2089075"/>
            <a:ext cx="15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Acquisition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5002024" y="3181526"/>
            <a:ext cx="2874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Also called “engagement”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DAU / WAU / MAU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Stickiness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D1 / D7 / D30 retention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Churn rate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Time-on-site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actions per session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54" name="Google Shape;354;p14"/>
          <p:cNvCxnSpPr/>
          <p:nvPr/>
        </p:nvCxnSpPr>
        <p:spPr>
          <a:xfrm>
            <a:off x="6234418" y="2562837"/>
            <a:ext cx="0" cy="4320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none"/>
            <a:tailEnd len="med" w="med" type="oval"/>
          </a:ln>
        </p:spPr>
      </p:cxnSp>
      <p:sp>
        <p:nvSpPr>
          <p:cNvPr id="355" name="Google Shape;355;p14"/>
          <p:cNvSpPr txBox="1"/>
          <p:nvPr/>
        </p:nvSpPr>
        <p:spPr>
          <a:xfrm>
            <a:off x="5646512" y="2088857"/>
            <a:ext cx="1359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Retention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"/>
          <p:cNvSpPr txBox="1"/>
          <p:nvPr/>
        </p:nvSpPr>
        <p:spPr>
          <a:xfrm>
            <a:off x="3046602" y="52270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“Pirate” Metrics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361" name="Google Shape;361;p15"/>
          <p:cNvCxnSpPr/>
          <p:nvPr/>
        </p:nvCxnSpPr>
        <p:spPr>
          <a:xfrm>
            <a:off x="1375794" y="2562837"/>
            <a:ext cx="922369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oval"/>
            <a:tailEnd len="med" w="med" type="oval"/>
          </a:ln>
        </p:spPr>
      </p:cxnSp>
      <p:sp>
        <p:nvSpPr>
          <p:cNvPr id="362" name="Google Shape;362;p15"/>
          <p:cNvSpPr txBox="1"/>
          <p:nvPr/>
        </p:nvSpPr>
        <p:spPr>
          <a:xfrm>
            <a:off x="3803626" y="2088850"/>
            <a:ext cx="135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Activation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5646498" y="2088850"/>
            <a:ext cx="135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Retention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9143524" y="2088850"/>
            <a:ext cx="113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Referral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1800126" y="2089075"/>
            <a:ext cx="144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Acquisition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7124423" y="3194100"/>
            <a:ext cx="26925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CAC : LTV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ARPU / ARPPU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GMV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AOV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transactions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CPM, CPC, CTR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Prices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67" name="Google Shape;367;p15"/>
          <p:cNvCxnSpPr/>
          <p:nvPr/>
        </p:nvCxnSpPr>
        <p:spPr>
          <a:xfrm>
            <a:off x="7983523" y="2562837"/>
            <a:ext cx="0" cy="4320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none"/>
            <a:tailEnd len="med" w="med" type="oval"/>
          </a:ln>
        </p:spPr>
      </p:cxnSp>
      <p:sp>
        <p:nvSpPr>
          <p:cNvPr id="368" name="Google Shape;368;p15"/>
          <p:cNvSpPr txBox="1"/>
          <p:nvPr/>
        </p:nvSpPr>
        <p:spPr>
          <a:xfrm>
            <a:off x="7453306" y="2088857"/>
            <a:ext cx="1359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Revenue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/>
          <p:nvPr/>
        </p:nvSpPr>
        <p:spPr>
          <a:xfrm>
            <a:off x="3046602" y="52270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“Pirate” Metrics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374" name="Google Shape;374;p16"/>
          <p:cNvCxnSpPr/>
          <p:nvPr/>
        </p:nvCxnSpPr>
        <p:spPr>
          <a:xfrm>
            <a:off x="1375794" y="2562837"/>
            <a:ext cx="922369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oval"/>
            <a:tailEnd len="med" w="med" type="oval"/>
          </a:ln>
        </p:spPr>
      </p:cxnSp>
      <p:sp>
        <p:nvSpPr>
          <p:cNvPr id="375" name="Google Shape;375;p16"/>
          <p:cNvSpPr txBox="1"/>
          <p:nvPr/>
        </p:nvSpPr>
        <p:spPr>
          <a:xfrm>
            <a:off x="3803626" y="2088850"/>
            <a:ext cx="135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Activation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5646498" y="2088850"/>
            <a:ext cx="135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Retention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7453299" y="2088850"/>
            <a:ext cx="11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Revenue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1800126" y="2089075"/>
            <a:ext cx="15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Acquisition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79" name="Google Shape;379;p16"/>
          <p:cNvSpPr txBox="1"/>
          <p:nvPr/>
        </p:nvSpPr>
        <p:spPr>
          <a:xfrm>
            <a:off x="8611800" y="3215075"/>
            <a:ext cx="2556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CSAT &amp; NPS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Referral links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Capital </a:t>
            </a:r>
            <a:r>
              <a:rPr i="1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</a:t>
            </a: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&gt; 1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Positivity score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1" marL="74295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NLP on corpus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80" name="Google Shape;380;p16"/>
          <p:cNvCxnSpPr/>
          <p:nvPr/>
        </p:nvCxnSpPr>
        <p:spPr>
          <a:xfrm>
            <a:off x="9644543" y="2562837"/>
            <a:ext cx="0" cy="4320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none"/>
            <a:tailEnd len="med" w="med" type="oval"/>
          </a:ln>
        </p:spPr>
      </p:cxnSp>
      <p:sp>
        <p:nvSpPr>
          <p:cNvPr id="381" name="Google Shape;381;p16"/>
          <p:cNvSpPr txBox="1"/>
          <p:nvPr/>
        </p:nvSpPr>
        <p:spPr>
          <a:xfrm>
            <a:off x="9143529" y="2088857"/>
            <a:ext cx="1359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Referral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 txBox="1"/>
          <p:nvPr/>
        </p:nvSpPr>
        <p:spPr>
          <a:xfrm>
            <a:off x="1145098" y="64434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Framework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74967" y="2706230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PIRATE Structure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1174967" y="4358862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Metric Trees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1174967" y="5185178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Follow-up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7"/>
          <p:cNvGrpSpPr/>
          <p:nvPr/>
        </p:nvGrpSpPr>
        <p:grpSpPr>
          <a:xfrm>
            <a:off x="1174967" y="3527770"/>
            <a:ext cx="6152816" cy="477712"/>
            <a:chOff x="1174967" y="1879914"/>
            <a:chExt cx="6152816" cy="477712"/>
          </a:xfrm>
        </p:grpSpPr>
        <p:sp>
          <p:nvSpPr>
            <p:cNvPr id="391" name="Google Shape;391;p17"/>
            <p:cNvSpPr/>
            <p:nvPr/>
          </p:nvSpPr>
          <p:spPr>
            <a:xfrm>
              <a:off x="1174967" y="1879914"/>
              <a:ext cx="6152816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0000"/>
                </a:gs>
                <a:gs pos="100000">
                  <a:srgbClr val="C73ECC"/>
                </a:gs>
              </a:gsLst>
              <a:lin ang="135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</a:t>
              </a: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Industry Alignment &amp; Deep-Dive</a:t>
              </a:r>
              <a:endPara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1317071" y="1981610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3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grpSp>
        <p:nvGrpSpPr>
          <p:cNvPr id="393" name="Google Shape;393;p17"/>
          <p:cNvGrpSpPr/>
          <p:nvPr/>
        </p:nvGrpSpPr>
        <p:grpSpPr>
          <a:xfrm>
            <a:off x="1174967" y="1875138"/>
            <a:ext cx="2911120" cy="477712"/>
            <a:chOff x="1174967" y="2706230"/>
            <a:chExt cx="2911120" cy="477712"/>
          </a:xfrm>
        </p:grpSpPr>
        <p:sp>
          <p:nvSpPr>
            <p:cNvPr id="394" name="Google Shape;394;p17"/>
            <p:cNvSpPr/>
            <p:nvPr/>
          </p:nvSpPr>
          <p:spPr>
            <a:xfrm>
              <a:off x="1174967" y="2706230"/>
              <a:ext cx="2911120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77D3"/>
                </a:gs>
                <a:gs pos="2000">
                  <a:srgbClr val="0077D3"/>
                </a:gs>
                <a:gs pos="100000">
                  <a:srgbClr val="C73EC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Clarity &amp; Main Goal</a:t>
              </a:r>
              <a:endParaRPr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1317071" y="2807926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1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396" name="Google Shape;396;p17"/>
          <p:cNvSpPr/>
          <p:nvPr/>
        </p:nvSpPr>
        <p:spPr>
          <a:xfrm>
            <a:off x="1317071" y="2807926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1317071" y="4460558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1317071" y="5286874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5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7597400" y="3597350"/>
            <a:ext cx="33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Define the </a:t>
            </a:r>
            <a:r>
              <a:rPr i="1" lang="en-US" sz="16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business model 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Most-Asked Industries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406" name="Google Shape;406;p18"/>
          <p:cNvGrpSpPr/>
          <p:nvPr/>
        </p:nvGrpSpPr>
        <p:grpSpPr>
          <a:xfrm>
            <a:off x="4329852" y="2860000"/>
            <a:ext cx="4389956" cy="400110"/>
            <a:chOff x="3630336" y="3435550"/>
            <a:chExt cx="4389956" cy="400110"/>
          </a:xfrm>
        </p:grpSpPr>
        <p:sp>
          <p:nvSpPr>
            <p:cNvPr id="407" name="Google Shape;407;p18"/>
            <p:cNvSpPr txBox="1"/>
            <p:nvPr/>
          </p:nvSpPr>
          <p:spPr>
            <a:xfrm>
              <a:off x="4084041" y="3435550"/>
              <a:ext cx="393625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Ads</a:t>
              </a:r>
              <a:endParaRPr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Instagram Logo png and symbol, meaning, history" id="408" name="Google Shape;40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30336" y="3485506"/>
              <a:ext cx="537938" cy="3025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9" name="Google Shape;409;p18"/>
          <p:cNvGrpSpPr/>
          <p:nvPr/>
        </p:nvGrpSpPr>
        <p:grpSpPr>
          <a:xfrm>
            <a:off x="4371968" y="2016226"/>
            <a:ext cx="4003475" cy="453705"/>
            <a:chOff x="1692821" y="3362426"/>
            <a:chExt cx="4003475" cy="453705"/>
          </a:xfrm>
        </p:grpSpPr>
        <p:sp>
          <p:nvSpPr>
            <p:cNvPr id="410" name="Google Shape;410;p18"/>
            <p:cNvSpPr txBox="1"/>
            <p:nvPr/>
          </p:nvSpPr>
          <p:spPr>
            <a:xfrm>
              <a:off x="2104410" y="3389224"/>
              <a:ext cx="35918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Subscriptions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411" name="Google Shape;41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92821" y="3362426"/>
              <a:ext cx="453705" cy="4537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18"/>
          <p:cNvGrpSpPr/>
          <p:nvPr/>
        </p:nvGrpSpPr>
        <p:grpSpPr>
          <a:xfrm>
            <a:off x="4418371" y="3592916"/>
            <a:ext cx="3937063" cy="400110"/>
            <a:chOff x="1717117" y="4446525"/>
            <a:chExt cx="3937063" cy="400110"/>
          </a:xfrm>
        </p:grpSpPr>
        <p:sp>
          <p:nvSpPr>
            <p:cNvPr id="413" name="Google Shape;413;p18"/>
            <p:cNvSpPr txBox="1"/>
            <p:nvPr/>
          </p:nvSpPr>
          <p:spPr>
            <a:xfrm>
              <a:off x="2062294" y="4446525"/>
              <a:ext cx="35918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Software-as-a-Service (SaaS)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Logo, slack icon - Free download on Iconfinder" id="414" name="Google Shape;414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17117" y="4486140"/>
              <a:ext cx="320879" cy="3208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5" name="Google Shape;415;p18"/>
          <p:cNvGrpSpPr/>
          <p:nvPr/>
        </p:nvGrpSpPr>
        <p:grpSpPr>
          <a:xfrm>
            <a:off x="4418370" y="4423901"/>
            <a:ext cx="3937064" cy="400110"/>
            <a:chOff x="8015081" y="2664608"/>
            <a:chExt cx="3937064" cy="400110"/>
          </a:xfrm>
        </p:grpSpPr>
        <p:sp>
          <p:nvSpPr>
            <p:cNvPr id="416" name="Google Shape;416;p18"/>
            <p:cNvSpPr txBox="1"/>
            <p:nvPr/>
          </p:nvSpPr>
          <p:spPr>
            <a:xfrm>
              <a:off x="8360259" y="2664608"/>
              <a:ext cx="35918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Two-sided Markets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Uber - Free social media icons" id="417" name="Google Shape;417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15081" y="2711196"/>
              <a:ext cx="320879" cy="3208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18"/>
          <p:cNvGrpSpPr/>
          <p:nvPr/>
        </p:nvGrpSpPr>
        <p:grpSpPr>
          <a:xfrm>
            <a:off x="4309843" y="5268830"/>
            <a:ext cx="3003957" cy="453705"/>
            <a:chOff x="7930970" y="3754945"/>
            <a:chExt cx="3003957" cy="453705"/>
          </a:xfrm>
        </p:grpSpPr>
        <p:sp>
          <p:nvSpPr>
            <p:cNvPr id="419" name="Google Shape;419;p18"/>
            <p:cNvSpPr txBox="1"/>
            <p:nvPr/>
          </p:nvSpPr>
          <p:spPr>
            <a:xfrm>
              <a:off x="8384675" y="3754945"/>
              <a:ext cx="25502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E-commerce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File:Amazon icon.png - Wikimedia Commons" id="420" name="Google Shape;42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30970" y="3754945"/>
              <a:ext cx="453705" cy="45370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"/>
          <p:cNvSpPr txBox="1"/>
          <p:nvPr/>
        </p:nvSpPr>
        <p:spPr>
          <a:xfrm>
            <a:off x="1145098" y="64434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Framework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1174967" y="2706230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PIRATE Structure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1174967" y="5185178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Follow-up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28" name="Google Shape;428;p19"/>
          <p:cNvGrpSpPr/>
          <p:nvPr/>
        </p:nvGrpSpPr>
        <p:grpSpPr>
          <a:xfrm>
            <a:off x="1145098" y="4368414"/>
            <a:ext cx="6152816" cy="477712"/>
            <a:chOff x="1174967" y="1879914"/>
            <a:chExt cx="6152816" cy="477712"/>
          </a:xfrm>
        </p:grpSpPr>
        <p:sp>
          <p:nvSpPr>
            <p:cNvPr id="429" name="Google Shape;429;p19"/>
            <p:cNvSpPr/>
            <p:nvPr/>
          </p:nvSpPr>
          <p:spPr>
            <a:xfrm>
              <a:off x="1174967" y="1879914"/>
              <a:ext cx="6152816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0000"/>
                </a:gs>
                <a:gs pos="100000">
                  <a:srgbClr val="C73ECC"/>
                </a:gs>
              </a:gsLst>
              <a:lin ang="135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</a:t>
              </a: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Metric Trees (L</a:t>
              </a:r>
              <a:r>
                <a:rPr baseline="-25000"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0</a:t>
              </a: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, L</a:t>
              </a:r>
              <a:r>
                <a:rPr baseline="-25000"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1</a:t>
              </a: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, L</a:t>
              </a:r>
              <a:r>
                <a:rPr baseline="-25000"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2</a:t>
              </a: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) – Construct layers</a:t>
              </a:r>
              <a:endPara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1317071" y="1981610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4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grpSp>
        <p:nvGrpSpPr>
          <p:cNvPr id="431" name="Google Shape;431;p19"/>
          <p:cNvGrpSpPr/>
          <p:nvPr/>
        </p:nvGrpSpPr>
        <p:grpSpPr>
          <a:xfrm>
            <a:off x="1174967" y="1875138"/>
            <a:ext cx="2911120" cy="477712"/>
            <a:chOff x="1174967" y="2706230"/>
            <a:chExt cx="2911120" cy="477712"/>
          </a:xfrm>
        </p:grpSpPr>
        <p:sp>
          <p:nvSpPr>
            <p:cNvPr id="432" name="Google Shape;432;p19"/>
            <p:cNvSpPr/>
            <p:nvPr/>
          </p:nvSpPr>
          <p:spPr>
            <a:xfrm>
              <a:off x="1174967" y="2706230"/>
              <a:ext cx="2911120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77D3"/>
                </a:gs>
                <a:gs pos="2000">
                  <a:srgbClr val="0077D3"/>
                </a:gs>
                <a:gs pos="100000">
                  <a:srgbClr val="C73EC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Clarity &amp; Main Goal</a:t>
              </a:r>
              <a:endParaRPr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1317071" y="2807926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1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434" name="Google Shape;434;p19"/>
          <p:cNvSpPr/>
          <p:nvPr/>
        </p:nvSpPr>
        <p:spPr>
          <a:xfrm>
            <a:off x="1317071" y="2807926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435" name="Google Shape;435;p19"/>
          <p:cNvGrpSpPr/>
          <p:nvPr/>
        </p:nvGrpSpPr>
        <p:grpSpPr>
          <a:xfrm>
            <a:off x="1174967" y="3537322"/>
            <a:ext cx="2911120" cy="477712"/>
            <a:chOff x="1174967" y="3537322"/>
            <a:chExt cx="2911120" cy="477712"/>
          </a:xfrm>
        </p:grpSpPr>
        <p:sp>
          <p:nvSpPr>
            <p:cNvPr id="436" name="Google Shape;436;p19"/>
            <p:cNvSpPr/>
            <p:nvPr/>
          </p:nvSpPr>
          <p:spPr>
            <a:xfrm>
              <a:off x="1174967" y="3537322"/>
              <a:ext cx="2911120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77D3"/>
                </a:gs>
                <a:gs pos="2000">
                  <a:srgbClr val="0077D3"/>
                </a:gs>
                <a:gs pos="100000">
                  <a:srgbClr val="C73EC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Industry Alignment</a:t>
              </a:r>
              <a:endParaRPr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1317071" y="3639018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3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438" name="Google Shape;438;p19"/>
          <p:cNvSpPr/>
          <p:nvPr/>
        </p:nvSpPr>
        <p:spPr>
          <a:xfrm>
            <a:off x="1317071" y="5286874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5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7622575" y="4438000"/>
            <a:ext cx="386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Combine </a:t>
            </a:r>
            <a:r>
              <a:rPr i="1" lang="en-US" sz="16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main goal 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+ </a:t>
            </a:r>
            <a:r>
              <a:rPr i="1" lang="en-US" sz="1600">
                <a:solidFill>
                  <a:srgbClr val="0078D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business model</a:t>
            </a:r>
            <a:endParaRPr i="1"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 txBox="1"/>
          <p:nvPr/>
        </p:nvSpPr>
        <p:spPr>
          <a:xfrm>
            <a:off x="3046602" y="1034434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Let’s see MRR in action!</a:t>
            </a:r>
            <a:endParaRPr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pic>
        <p:nvPicPr>
          <p:cNvPr descr="MCU Quiz: How Well Do You Remember Iron Man 2?" id="445" name="Google Shape;4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2148542"/>
            <a:ext cx="57150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Subscriptions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Netflix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1391285" y="4345265"/>
            <a:ext cx="100965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452" name="Google Shape;452;p21"/>
          <p:cNvCxnSpPr>
            <a:stCxn id="453" idx="2"/>
            <a:endCxn id="454" idx="0"/>
          </p:cNvCxnSpPr>
          <p:nvPr/>
        </p:nvCxnSpPr>
        <p:spPr>
          <a:xfrm rot="5400000">
            <a:off x="4122411" y="1066977"/>
            <a:ext cx="608100" cy="27099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5" name="Google Shape;455;p21"/>
          <p:cNvCxnSpPr>
            <a:stCxn id="453" idx="2"/>
            <a:endCxn id="456" idx="0"/>
          </p:cNvCxnSpPr>
          <p:nvPr/>
        </p:nvCxnSpPr>
        <p:spPr>
          <a:xfrm flipH="1" rot="-5400000">
            <a:off x="6649161" y="1250127"/>
            <a:ext cx="611100" cy="23466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7" name="Google Shape;457;p21"/>
          <p:cNvCxnSpPr>
            <a:stCxn id="454" idx="2"/>
            <a:endCxn id="451" idx="0"/>
          </p:cNvCxnSpPr>
          <p:nvPr/>
        </p:nvCxnSpPr>
        <p:spPr>
          <a:xfrm rot="5400000">
            <a:off x="1912934" y="3186754"/>
            <a:ext cx="1141500" cy="11754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8" name="Google Shape;458;p21"/>
          <p:cNvCxnSpPr>
            <a:stCxn id="454" idx="2"/>
            <a:endCxn id="459" idx="0"/>
          </p:cNvCxnSpPr>
          <p:nvPr/>
        </p:nvCxnSpPr>
        <p:spPr>
          <a:xfrm flipH="1" rot="-5400000">
            <a:off x="3116534" y="3158554"/>
            <a:ext cx="1141500" cy="12318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60" name="Google Shape;460;p21"/>
          <p:cNvCxnSpPr>
            <a:stCxn id="456" idx="2"/>
            <a:endCxn id="461" idx="0"/>
          </p:cNvCxnSpPr>
          <p:nvPr/>
        </p:nvCxnSpPr>
        <p:spPr>
          <a:xfrm rot="5400000">
            <a:off x="6782500" y="3016008"/>
            <a:ext cx="1155000" cy="15363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62" name="Google Shape;462;p21"/>
          <p:cNvCxnSpPr>
            <a:stCxn id="456" idx="2"/>
            <a:endCxn id="463" idx="0"/>
          </p:cNvCxnSpPr>
          <p:nvPr/>
        </p:nvCxnSpPr>
        <p:spPr>
          <a:xfrm flipH="1" rot="-5400000">
            <a:off x="8146300" y="3188508"/>
            <a:ext cx="1138500" cy="11748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64" name="Google Shape;464;p21"/>
          <p:cNvCxnSpPr>
            <a:stCxn id="463" idx="2"/>
            <a:endCxn id="465" idx="0"/>
          </p:cNvCxnSpPr>
          <p:nvPr/>
        </p:nvCxnSpPr>
        <p:spPr>
          <a:xfrm rot="5400000">
            <a:off x="8251550" y="4612677"/>
            <a:ext cx="841200" cy="12618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66" name="Google Shape;466;p21"/>
          <p:cNvCxnSpPr>
            <a:stCxn id="463" idx="2"/>
            <a:endCxn id="467" idx="0"/>
          </p:cNvCxnSpPr>
          <p:nvPr/>
        </p:nvCxnSpPr>
        <p:spPr>
          <a:xfrm flipH="1" rot="-5400000">
            <a:off x="9509300" y="4616727"/>
            <a:ext cx="841200" cy="12537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68" name="Google Shape;468;p21"/>
          <p:cNvSpPr txBox="1"/>
          <p:nvPr/>
        </p:nvSpPr>
        <p:spPr>
          <a:xfrm>
            <a:off x="5734292" y="2781659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2839852" y="4379364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470" name="Google Shape;470;p21"/>
          <p:cNvSpPr txBox="1"/>
          <p:nvPr/>
        </p:nvSpPr>
        <p:spPr>
          <a:xfrm>
            <a:off x="7723919" y="439945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71" name="Google Shape;471;p21"/>
          <p:cNvSpPr txBox="1"/>
          <p:nvPr/>
        </p:nvSpPr>
        <p:spPr>
          <a:xfrm>
            <a:off x="9127344" y="5718302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53" name="Google Shape;453;p21"/>
          <p:cNvSpPr/>
          <p:nvPr/>
        </p:nvSpPr>
        <p:spPr>
          <a:xfrm>
            <a:off x="5309119" y="1640165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1812314" y="2725992"/>
            <a:ext cx="25181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Monthly Paying Users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7428594" y="2728946"/>
            <a:ext cx="1399112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ARPU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8175021" y="4345265"/>
            <a:ext cx="2256057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Promotional pricing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3511933" y="4345265"/>
            <a:ext cx="158261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Upgrade rate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5645692" y="4361780"/>
            <a:ext cx="189210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Standard pricing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7095054" y="5664113"/>
            <a:ext cx="189210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Family discount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9610646" y="5664113"/>
            <a:ext cx="189210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Student discount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Ads</a:t>
            </a: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Instagram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477" name="Google Shape;477;p22"/>
          <p:cNvCxnSpPr>
            <a:stCxn id="478" idx="2"/>
            <a:endCxn id="479" idx="0"/>
          </p:cNvCxnSpPr>
          <p:nvPr/>
        </p:nvCxnSpPr>
        <p:spPr>
          <a:xfrm flipH="1" rot="-5400000">
            <a:off x="6802143" y="1024634"/>
            <a:ext cx="418200" cy="23844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80" name="Google Shape;480;p22"/>
          <p:cNvCxnSpPr>
            <a:stCxn id="478" idx="2"/>
            <a:endCxn id="481" idx="0"/>
          </p:cNvCxnSpPr>
          <p:nvPr/>
        </p:nvCxnSpPr>
        <p:spPr>
          <a:xfrm rot="5400000">
            <a:off x="4487043" y="1100534"/>
            <a:ext cx="424800" cy="22392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82" name="Google Shape;482;p22"/>
          <p:cNvCxnSpPr>
            <a:stCxn id="479" idx="2"/>
            <a:endCxn id="483" idx="0"/>
          </p:cNvCxnSpPr>
          <p:nvPr/>
        </p:nvCxnSpPr>
        <p:spPr>
          <a:xfrm rot="5400000">
            <a:off x="7300959" y="2483276"/>
            <a:ext cx="482100" cy="13230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84" name="Google Shape;484;p22"/>
          <p:cNvCxnSpPr>
            <a:stCxn id="479" idx="2"/>
            <a:endCxn id="485" idx="0"/>
          </p:cNvCxnSpPr>
          <p:nvPr/>
        </p:nvCxnSpPr>
        <p:spPr>
          <a:xfrm flipH="1" rot="-5400000">
            <a:off x="7964259" y="3142976"/>
            <a:ext cx="482100" cy="36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86" name="Google Shape;486;p22"/>
          <p:cNvCxnSpPr>
            <a:stCxn id="479" idx="2"/>
            <a:endCxn id="487" idx="0"/>
          </p:cNvCxnSpPr>
          <p:nvPr/>
        </p:nvCxnSpPr>
        <p:spPr>
          <a:xfrm flipH="1" rot="-5400000">
            <a:off x="8580459" y="2526776"/>
            <a:ext cx="493800" cy="1247700"/>
          </a:xfrm>
          <a:prstGeom prst="bentConnector3">
            <a:avLst>
              <a:gd fmla="val 4998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88" name="Google Shape;488;p22"/>
          <p:cNvCxnSpPr>
            <a:stCxn id="481" idx="2"/>
            <a:endCxn id="489" idx="0"/>
          </p:cNvCxnSpPr>
          <p:nvPr/>
        </p:nvCxnSpPr>
        <p:spPr>
          <a:xfrm rot="5400000">
            <a:off x="2747910" y="2553999"/>
            <a:ext cx="475800" cy="11880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90" name="Google Shape;490;p22"/>
          <p:cNvCxnSpPr>
            <a:stCxn id="481" idx="2"/>
            <a:endCxn id="491" idx="0"/>
          </p:cNvCxnSpPr>
          <p:nvPr/>
        </p:nvCxnSpPr>
        <p:spPr>
          <a:xfrm flipH="1" rot="-5400000">
            <a:off x="3994110" y="2495799"/>
            <a:ext cx="479700" cy="13083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92" name="Google Shape;492;p22"/>
          <p:cNvCxnSpPr>
            <a:stCxn id="489" idx="2"/>
            <a:endCxn id="493" idx="0"/>
          </p:cNvCxnSpPr>
          <p:nvPr/>
        </p:nvCxnSpPr>
        <p:spPr>
          <a:xfrm flipH="1" rot="-5400000">
            <a:off x="2123116" y="4132148"/>
            <a:ext cx="539400" cy="21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94" name="Google Shape;494;p22"/>
          <p:cNvCxnSpPr>
            <a:stCxn id="489" idx="2"/>
            <a:endCxn id="495" idx="0"/>
          </p:cNvCxnSpPr>
          <p:nvPr/>
        </p:nvCxnSpPr>
        <p:spPr>
          <a:xfrm flipH="1" rot="-5400000">
            <a:off x="3384916" y="2870348"/>
            <a:ext cx="539400" cy="25257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96" name="Google Shape;496;p22"/>
          <p:cNvCxnSpPr>
            <a:stCxn id="495" idx="2"/>
            <a:endCxn id="497" idx="0"/>
          </p:cNvCxnSpPr>
          <p:nvPr/>
        </p:nvCxnSpPr>
        <p:spPr>
          <a:xfrm rot="5400000">
            <a:off x="4093247" y="4693480"/>
            <a:ext cx="636900" cy="1011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98" name="Google Shape;498;p22"/>
          <p:cNvCxnSpPr>
            <a:stCxn id="495" idx="2"/>
            <a:endCxn id="499" idx="0"/>
          </p:cNvCxnSpPr>
          <p:nvPr/>
        </p:nvCxnSpPr>
        <p:spPr>
          <a:xfrm flipH="1" rot="-5400000">
            <a:off x="5180147" y="4617880"/>
            <a:ext cx="640800" cy="11664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00" name="Google Shape;500;p22"/>
          <p:cNvSpPr txBox="1"/>
          <p:nvPr/>
        </p:nvSpPr>
        <p:spPr>
          <a:xfrm>
            <a:off x="5673811" y="2466001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01" name="Google Shape;501;p22"/>
          <p:cNvSpPr txBox="1"/>
          <p:nvPr/>
        </p:nvSpPr>
        <p:spPr>
          <a:xfrm>
            <a:off x="3498362" y="3441598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02" name="Google Shape;502;p22"/>
          <p:cNvSpPr txBox="1"/>
          <p:nvPr/>
        </p:nvSpPr>
        <p:spPr>
          <a:xfrm>
            <a:off x="3498362" y="4402968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03" name="Google Shape;503;p22"/>
          <p:cNvSpPr txBox="1"/>
          <p:nvPr/>
        </p:nvSpPr>
        <p:spPr>
          <a:xfrm>
            <a:off x="4772114" y="5537093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7394330" y="3431792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8657465" y="3431792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5346751" y="1530022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2977634" y="2432387"/>
            <a:ext cx="1204351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of ads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7601333" y="2426014"/>
            <a:ext cx="1204351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$ per ad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1623817" y="3385786"/>
            <a:ext cx="153589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posts seen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4109895" y="4402968"/>
            <a:ext cx="161490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Total time-</a:t>
            </a:r>
            <a:b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on-site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3401094" y="5517503"/>
            <a:ext cx="100965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4150969" y="3389904"/>
            <a:ext cx="14741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ads / post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1656841" y="4402968"/>
            <a:ext cx="14742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posts seen </a:t>
            </a:r>
            <a:b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/ minute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5346751" y="5521610"/>
            <a:ext cx="14741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Average time-on-site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6488898" y="3385786"/>
            <a:ext cx="782949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CPC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7815632" y="3385786"/>
            <a:ext cx="7830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CTR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9059713" y="3397395"/>
            <a:ext cx="782949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CPM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3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SaaS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Slack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511" name="Google Shape;511;p23"/>
          <p:cNvCxnSpPr>
            <a:stCxn id="512" idx="2"/>
            <a:endCxn id="513" idx="0"/>
          </p:cNvCxnSpPr>
          <p:nvPr/>
        </p:nvCxnSpPr>
        <p:spPr>
          <a:xfrm rot="5400000">
            <a:off x="4521312" y="1277958"/>
            <a:ext cx="626100" cy="22794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14" name="Google Shape;514;p23"/>
          <p:cNvCxnSpPr>
            <a:stCxn id="512" idx="2"/>
            <a:endCxn id="515" idx="0"/>
          </p:cNvCxnSpPr>
          <p:nvPr/>
        </p:nvCxnSpPr>
        <p:spPr>
          <a:xfrm flipH="1" rot="-5400000">
            <a:off x="6961811" y="1116858"/>
            <a:ext cx="619800" cy="25953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16" name="Google Shape;516;p23"/>
          <p:cNvCxnSpPr>
            <a:stCxn id="513" idx="2"/>
            <a:endCxn id="517" idx="0"/>
          </p:cNvCxnSpPr>
          <p:nvPr/>
        </p:nvCxnSpPr>
        <p:spPr>
          <a:xfrm rot="5400000">
            <a:off x="2339555" y="2725844"/>
            <a:ext cx="872700" cy="18378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18" name="Google Shape;518;p23"/>
          <p:cNvCxnSpPr>
            <a:stCxn id="513" idx="2"/>
            <a:endCxn id="519" idx="0"/>
          </p:cNvCxnSpPr>
          <p:nvPr/>
        </p:nvCxnSpPr>
        <p:spPr>
          <a:xfrm flipH="1" rot="-5400000">
            <a:off x="3255905" y="3647294"/>
            <a:ext cx="878400" cy="6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20" name="Google Shape;520;p23"/>
          <p:cNvCxnSpPr>
            <a:stCxn id="513" idx="2"/>
            <a:endCxn id="521" idx="0"/>
          </p:cNvCxnSpPr>
          <p:nvPr/>
        </p:nvCxnSpPr>
        <p:spPr>
          <a:xfrm flipH="1" rot="-5400000">
            <a:off x="4296755" y="2606444"/>
            <a:ext cx="878400" cy="20823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22" name="Google Shape;522;p23"/>
          <p:cNvCxnSpPr/>
          <p:nvPr/>
        </p:nvCxnSpPr>
        <p:spPr>
          <a:xfrm flipH="1" rot="-5400000">
            <a:off x="1400993" y="5010520"/>
            <a:ext cx="912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23" name="Google Shape;523;p23"/>
          <p:cNvCxnSpPr>
            <a:stCxn id="517" idx="2"/>
            <a:endCxn id="524" idx="0"/>
          </p:cNvCxnSpPr>
          <p:nvPr/>
        </p:nvCxnSpPr>
        <p:spPr>
          <a:xfrm flipH="1" rot="-5400000">
            <a:off x="2843240" y="3572619"/>
            <a:ext cx="900900" cy="28731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25" name="Google Shape;525;p23"/>
          <p:cNvCxnSpPr>
            <a:stCxn id="517" idx="2"/>
            <a:endCxn id="526" idx="0"/>
          </p:cNvCxnSpPr>
          <p:nvPr/>
        </p:nvCxnSpPr>
        <p:spPr>
          <a:xfrm flipH="1" rot="-5400000">
            <a:off x="4153040" y="2262819"/>
            <a:ext cx="908400" cy="55002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27" name="Google Shape;527;p23"/>
          <p:cNvCxnSpPr>
            <a:stCxn id="517" idx="2"/>
            <a:endCxn id="528" idx="0"/>
          </p:cNvCxnSpPr>
          <p:nvPr/>
        </p:nvCxnSpPr>
        <p:spPr>
          <a:xfrm flipH="1" rot="-5400000">
            <a:off x="5470340" y="945519"/>
            <a:ext cx="900900" cy="81273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29" name="Google Shape;529;p23"/>
          <p:cNvSpPr txBox="1"/>
          <p:nvPr/>
        </p:nvSpPr>
        <p:spPr>
          <a:xfrm>
            <a:off x="6272778" y="2778647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2514808" y="4130846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31" name="Google Shape;531;p23"/>
          <p:cNvSpPr txBox="1"/>
          <p:nvPr/>
        </p:nvSpPr>
        <p:spPr>
          <a:xfrm>
            <a:off x="4600947" y="4130846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32" name="Google Shape;532;p23"/>
          <p:cNvSpPr txBox="1"/>
          <p:nvPr/>
        </p:nvSpPr>
        <p:spPr>
          <a:xfrm>
            <a:off x="3122019" y="552145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33" name="Google Shape;533;p23"/>
          <p:cNvSpPr txBox="1"/>
          <p:nvPr/>
        </p:nvSpPr>
        <p:spPr>
          <a:xfrm>
            <a:off x="8499182" y="546726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34" name="Google Shape;534;p23"/>
          <p:cNvSpPr txBox="1"/>
          <p:nvPr/>
        </p:nvSpPr>
        <p:spPr>
          <a:xfrm>
            <a:off x="5995138" y="5500495"/>
            <a:ext cx="277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5501770" y="1626896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2435735" y="2730682"/>
            <a:ext cx="25181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Monthly Paying Users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1384848" y="4081007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8042052" y="2724457"/>
            <a:ext cx="1054902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ARPU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2903499" y="4086824"/>
            <a:ext cx="158261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Trial sign-ups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4985682" y="4086824"/>
            <a:ext cx="158261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Upgrade rate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1065832" y="5467265"/>
            <a:ext cx="158261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Last month’s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3818941" y="5459493"/>
            <a:ext cx="1822639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Newly acquired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6629411" y="5467265"/>
            <a:ext cx="14558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Churned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9256479" y="5459493"/>
            <a:ext cx="14558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Revived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E-commerce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Amazon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41" name="Google Shape;541;p24"/>
          <p:cNvSpPr txBox="1"/>
          <p:nvPr/>
        </p:nvSpPr>
        <p:spPr>
          <a:xfrm>
            <a:off x="1879390" y="5135733"/>
            <a:ext cx="84332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Abandonment rate =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(# clicks, time-to-fill, delivery options, return policies, etc.)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42" name="Google Shape;542;p24"/>
          <p:cNvCxnSpPr>
            <a:stCxn id="543" idx="2"/>
            <a:endCxn id="544" idx="0"/>
          </p:cNvCxnSpPr>
          <p:nvPr/>
        </p:nvCxnSpPr>
        <p:spPr>
          <a:xfrm rot="5400000">
            <a:off x="4551180" y="1297036"/>
            <a:ext cx="631500" cy="22320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5" name="Google Shape;545;p24"/>
          <p:cNvCxnSpPr>
            <a:stCxn id="543" idx="2"/>
            <a:endCxn id="546" idx="0"/>
          </p:cNvCxnSpPr>
          <p:nvPr/>
        </p:nvCxnSpPr>
        <p:spPr>
          <a:xfrm flipH="1" rot="-5400000">
            <a:off x="6045630" y="2034586"/>
            <a:ext cx="631500" cy="7569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7" name="Google Shape;547;p24"/>
          <p:cNvCxnSpPr>
            <a:stCxn id="544" idx="2"/>
            <a:endCxn id="548" idx="0"/>
          </p:cNvCxnSpPr>
          <p:nvPr/>
        </p:nvCxnSpPr>
        <p:spPr>
          <a:xfrm rot="5400000">
            <a:off x="2704104" y="2773645"/>
            <a:ext cx="614100" cy="14796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9" name="Google Shape;549;p24"/>
          <p:cNvCxnSpPr>
            <a:stCxn id="544" idx="2"/>
            <a:endCxn id="550" idx="0"/>
          </p:cNvCxnSpPr>
          <p:nvPr/>
        </p:nvCxnSpPr>
        <p:spPr>
          <a:xfrm flipH="1" rot="-5400000">
            <a:off x="4278204" y="2679145"/>
            <a:ext cx="607200" cy="16617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51" name="Google Shape;551;p24"/>
          <p:cNvSpPr txBox="1"/>
          <p:nvPr/>
        </p:nvSpPr>
        <p:spPr>
          <a:xfrm>
            <a:off x="5110577" y="2783004"/>
            <a:ext cx="2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52" name="Google Shape;552;p24"/>
          <p:cNvSpPr txBox="1"/>
          <p:nvPr/>
        </p:nvSpPr>
        <p:spPr>
          <a:xfrm>
            <a:off x="3440429" y="3886038"/>
            <a:ext cx="2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5510638" y="1619574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3179904" y="2728795"/>
            <a:ext cx="11421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orders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4089782" y="3813586"/>
            <a:ext cx="26457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1 – abandonment rate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6336093" y="2728845"/>
            <a:ext cx="8073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AOV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1461240" y="3820578"/>
            <a:ext cx="16203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carts made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8583661" y="2728850"/>
            <a:ext cx="18093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Commission %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54" name="Google Shape;554;p24"/>
          <p:cNvCxnSpPr>
            <a:stCxn id="543" idx="2"/>
            <a:endCxn id="553" idx="0"/>
          </p:cNvCxnSpPr>
          <p:nvPr/>
        </p:nvCxnSpPr>
        <p:spPr>
          <a:xfrm flipH="1" rot="-5400000">
            <a:off x="7419930" y="660286"/>
            <a:ext cx="631500" cy="35055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55" name="Google Shape;555;p24"/>
          <p:cNvSpPr txBox="1"/>
          <p:nvPr/>
        </p:nvSpPr>
        <p:spPr>
          <a:xfrm>
            <a:off x="7718325" y="2736800"/>
            <a:ext cx="2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Two-Sided Markets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Uber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3531206" y="2548624"/>
            <a:ext cx="1348526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Total fares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62" name="Google Shape;562;p25"/>
          <p:cNvCxnSpPr>
            <a:stCxn id="563" idx="2"/>
            <a:endCxn id="561" idx="0"/>
          </p:cNvCxnSpPr>
          <p:nvPr/>
        </p:nvCxnSpPr>
        <p:spPr>
          <a:xfrm rot="5400000">
            <a:off x="4868580" y="1434136"/>
            <a:ext cx="451200" cy="1777500"/>
          </a:xfrm>
          <a:prstGeom prst="bentConnector3">
            <a:avLst>
              <a:gd fmla="val 5001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64" name="Google Shape;564;p25"/>
          <p:cNvCxnSpPr>
            <a:stCxn id="563" idx="2"/>
            <a:endCxn id="565" idx="0"/>
          </p:cNvCxnSpPr>
          <p:nvPr/>
        </p:nvCxnSpPr>
        <p:spPr>
          <a:xfrm flipH="1" rot="-5400000">
            <a:off x="6991230" y="1088986"/>
            <a:ext cx="458700" cy="24753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66" name="Google Shape;566;p25"/>
          <p:cNvCxnSpPr>
            <a:stCxn id="561" idx="2"/>
            <a:endCxn id="567" idx="0"/>
          </p:cNvCxnSpPr>
          <p:nvPr/>
        </p:nvCxnSpPr>
        <p:spPr>
          <a:xfrm rot="5400000">
            <a:off x="2987319" y="2593586"/>
            <a:ext cx="785400" cy="16509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68" name="Google Shape;568;p25"/>
          <p:cNvCxnSpPr>
            <a:stCxn id="561" idx="2"/>
            <a:endCxn id="569" idx="0"/>
          </p:cNvCxnSpPr>
          <p:nvPr/>
        </p:nvCxnSpPr>
        <p:spPr>
          <a:xfrm flipH="1" rot="-5400000">
            <a:off x="4725819" y="2505986"/>
            <a:ext cx="785400" cy="18261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70" name="Google Shape;570;p25"/>
          <p:cNvCxnSpPr>
            <a:stCxn id="569" idx="2"/>
            <a:endCxn id="571" idx="0"/>
          </p:cNvCxnSpPr>
          <p:nvPr/>
        </p:nvCxnSpPr>
        <p:spPr>
          <a:xfrm rot="5400000">
            <a:off x="3949982" y="2998225"/>
            <a:ext cx="790500" cy="33729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72" name="Google Shape;572;p25"/>
          <p:cNvCxnSpPr>
            <a:stCxn id="569" idx="2"/>
            <a:endCxn id="573" idx="0"/>
          </p:cNvCxnSpPr>
          <p:nvPr/>
        </p:nvCxnSpPr>
        <p:spPr>
          <a:xfrm flipH="1" rot="-5400000">
            <a:off x="5634032" y="4687075"/>
            <a:ext cx="796500" cy="12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74" name="Google Shape;574;p25"/>
          <p:cNvCxnSpPr>
            <a:stCxn id="569" idx="2"/>
            <a:endCxn id="575" idx="0"/>
          </p:cNvCxnSpPr>
          <p:nvPr/>
        </p:nvCxnSpPr>
        <p:spPr>
          <a:xfrm flipH="1" rot="-5400000">
            <a:off x="7526132" y="2794975"/>
            <a:ext cx="790500" cy="37794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76" name="Google Shape;576;p25"/>
          <p:cNvSpPr txBox="1"/>
          <p:nvPr/>
        </p:nvSpPr>
        <p:spPr>
          <a:xfrm>
            <a:off x="6032886" y="2610133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4298369" y="3858705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78" name="Google Shape;578;p25"/>
          <p:cNvSpPr txBox="1"/>
          <p:nvPr/>
        </p:nvSpPr>
        <p:spPr>
          <a:xfrm>
            <a:off x="4402235" y="5134055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79" name="Google Shape;579;p25"/>
          <p:cNvSpPr txBox="1"/>
          <p:nvPr/>
        </p:nvSpPr>
        <p:spPr>
          <a:xfrm>
            <a:off x="7560758" y="5134055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563" name="Google Shape;563;p25"/>
          <p:cNvSpPr/>
          <p:nvPr/>
        </p:nvSpPr>
        <p:spPr>
          <a:xfrm>
            <a:off x="5510638" y="1619574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5487332" y="3811825"/>
            <a:ext cx="10887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rides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7583332" y="2555943"/>
            <a:ext cx="174970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Commission %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1782327" y="3811835"/>
            <a:ext cx="1544282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Average fare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1464016" y="5079865"/>
            <a:ext cx="2389311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Monthly Active Riders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8587816" y="5079865"/>
            <a:ext cx="2446672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Monthly Active Drivers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5241607" y="5085935"/>
            <a:ext cx="1582557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Match rate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391" y="1166447"/>
            <a:ext cx="7721218" cy="432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7"/>
          <p:cNvSpPr txBox="1"/>
          <p:nvPr/>
        </p:nvSpPr>
        <p:spPr>
          <a:xfrm>
            <a:off x="1033164" y="928321"/>
            <a:ext cx="39960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Shift to MAU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590" name="Google Shape;590;p27"/>
          <p:cNvGraphicFramePr/>
          <p:nvPr/>
        </p:nvGraphicFramePr>
        <p:xfrm>
          <a:off x="6135566" y="2132135"/>
          <a:ext cx="4572000" cy="2743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91" name="Google Shape;591;p27"/>
          <p:cNvSpPr txBox="1"/>
          <p:nvPr/>
        </p:nvSpPr>
        <p:spPr>
          <a:xfrm>
            <a:off x="1283677" y="2176096"/>
            <a:ext cx="4321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Lower dependence on seasonality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Consistent recurring revenue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More consumer friendly (lower upfront cost &amp; freedom to cancel)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•"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Correlated tightly to profits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2" name="Google Shape;592;p27"/>
          <p:cNvSpPr txBox="1"/>
          <p:nvPr/>
        </p:nvSpPr>
        <p:spPr>
          <a:xfrm>
            <a:off x="6584974" y="4948600"/>
            <a:ext cx="412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Xbox game sales vs GamePass subscription revenue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8"/>
          <p:cNvSpPr txBox="1"/>
          <p:nvPr/>
        </p:nvSpPr>
        <p:spPr>
          <a:xfrm>
            <a:off x="3266409" y="915133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Homework??</a:t>
            </a: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</a:t>
            </a:r>
            <a:r>
              <a:rPr lang="en-US" sz="3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😭</a:t>
            </a:r>
            <a:endParaRPr sz="3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598" name="Google Shape;598;p28"/>
          <p:cNvGraphicFramePr/>
          <p:nvPr/>
        </p:nvGraphicFramePr>
        <p:xfrm>
          <a:off x="1780940" y="23164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{4F1A64C2-A97B-4B3F-BC82-D83AE5DDB74A}</a:tableStyleId>
              </a:tblPr>
              <a:tblGrid>
                <a:gridCol w="2227875"/>
                <a:gridCol w="1454375"/>
                <a:gridCol w="1348925"/>
                <a:gridCol w="1304175"/>
                <a:gridCol w="1230625"/>
                <a:gridCol w="1064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Google Sans Medium"/>
                          <a:ea typeface="Google Sans Medium"/>
                          <a:cs typeface="Google Sans Medium"/>
                          <a:sym typeface="Google Sans Medium"/>
                        </a:rPr>
                        <a:t>Industry</a:t>
                      </a:r>
                      <a:endParaRPr>
                        <a:latin typeface="Google Sans Medium"/>
                        <a:ea typeface="Google Sans Medium"/>
                        <a:cs typeface="Google Sans Medium"/>
                        <a:sym typeface="Google Sans Medium"/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oogle Sans Medium"/>
                          <a:ea typeface="Google Sans Medium"/>
                          <a:cs typeface="Google Sans Medium"/>
                          <a:sym typeface="Google Sans Medium"/>
                        </a:rPr>
                        <a:t>Acquisition</a:t>
                      </a:r>
                      <a:endParaRPr>
                        <a:latin typeface="Google Sans Medium"/>
                        <a:ea typeface="Google Sans Medium"/>
                        <a:cs typeface="Google Sans Medium"/>
                        <a:sym typeface="Google Sans Medium"/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oogle Sans Medium"/>
                          <a:ea typeface="Google Sans Medium"/>
                          <a:cs typeface="Google Sans Medium"/>
                          <a:sym typeface="Google Sans Medium"/>
                        </a:rPr>
                        <a:t>Activation</a:t>
                      </a:r>
                      <a:endParaRPr>
                        <a:latin typeface="Google Sans Medium"/>
                        <a:ea typeface="Google Sans Medium"/>
                        <a:cs typeface="Google Sans Medium"/>
                        <a:sym typeface="Google Sans Medium"/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oogle Sans Medium"/>
                          <a:ea typeface="Google Sans Medium"/>
                          <a:cs typeface="Google Sans Medium"/>
                          <a:sym typeface="Google Sans Medium"/>
                        </a:rPr>
                        <a:t>Retention</a:t>
                      </a:r>
                      <a:endParaRPr>
                        <a:latin typeface="Google Sans Medium"/>
                        <a:ea typeface="Google Sans Medium"/>
                        <a:cs typeface="Google Sans Medium"/>
                        <a:sym typeface="Google Sans Medium"/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oogle Sans Medium"/>
                          <a:ea typeface="Google Sans Medium"/>
                          <a:cs typeface="Google Sans Medium"/>
                          <a:sym typeface="Google Sans Medium"/>
                        </a:rPr>
                        <a:t>Revenue</a:t>
                      </a:r>
                      <a:endParaRPr>
                        <a:latin typeface="Google Sans Medium"/>
                        <a:ea typeface="Google Sans Medium"/>
                        <a:cs typeface="Google Sans Medium"/>
                        <a:sym typeface="Google Sans Medium"/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Google Sans Medium"/>
                          <a:ea typeface="Google Sans Medium"/>
                          <a:cs typeface="Google Sans Medium"/>
                          <a:sym typeface="Google Sans Medium"/>
                        </a:rPr>
                        <a:t>Referral</a:t>
                      </a:r>
                      <a:endParaRPr>
                        <a:latin typeface="Google Sans Medium"/>
                        <a:ea typeface="Google Sans Medium"/>
                        <a:cs typeface="Google Sans Medium"/>
                        <a:sym typeface="Google Sans Medium"/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Subscriptions</a:t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Ads</a:t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SaaS</a:t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E-commerce</a:t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Two-sided Markets</a:t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599" name="Google Shape;5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075" y="2738226"/>
            <a:ext cx="255002" cy="255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075" y="3106100"/>
            <a:ext cx="255002" cy="255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075" y="3473976"/>
            <a:ext cx="255002" cy="255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075" y="3841851"/>
            <a:ext cx="255002" cy="255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075" y="4226701"/>
            <a:ext cx="255002" cy="25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h7aa5427de9539815_5_7"/>
          <p:cNvSpPr txBox="1"/>
          <p:nvPr/>
        </p:nvSpPr>
        <p:spPr>
          <a:xfrm>
            <a:off x="4092900" y="2998050"/>
            <a:ext cx="4006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We’re done</a:t>
            </a:r>
            <a:endParaRPr sz="44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10" name="Google Shape;610;h7aa5427de9539815_5_7"/>
          <p:cNvSpPr txBox="1"/>
          <p:nvPr/>
        </p:nvSpPr>
        <p:spPr>
          <a:xfrm>
            <a:off x="7503075" y="2998050"/>
            <a:ext cx="441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.</a:t>
            </a:r>
            <a:endParaRPr sz="44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11" name="Google Shape;611;h7aa5427de9539815_5_7"/>
          <p:cNvSpPr txBox="1"/>
          <p:nvPr/>
        </p:nvSpPr>
        <p:spPr>
          <a:xfrm>
            <a:off x="7435174" y="2998050"/>
            <a:ext cx="441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?</a:t>
            </a:r>
            <a:endParaRPr sz="44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9"/>
          <p:cNvSpPr txBox="1"/>
          <p:nvPr/>
        </p:nvSpPr>
        <p:spPr>
          <a:xfrm>
            <a:off x="1145098" y="644346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Framework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1174967" y="2706230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PIRATE Structure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1145098" y="4368414"/>
            <a:ext cx="2911120" cy="47771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D3"/>
              </a:gs>
              <a:gs pos="2000">
                <a:srgbClr val="0077D3"/>
              </a:gs>
              <a:gs pos="100000">
                <a:srgbClr val="C73ECC"/>
              </a:gs>
            </a:gsLst>
            <a:lin ang="2700000" scaled="0"/>
          </a:gradFill>
          <a:ln>
            <a:noFill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       Metric trees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619" name="Google Shape;619;p29"/>
          <p:cNvGrpSpPr/>
          <p:nvPr/>
        </p:nvGrpSpPr>
        <p:grpSpPr>
          <a:xfrm>
            <a:off x="1145098" y="5199506"/>
            <a:ext cx="6152816" cy="477712"/>
            <a:chOff x="1174967" y="1879914"/>
            <a:chExt cx="6152816" cy="477712"/>
          </a:xfrm>
        </p:grpSpPr>
        <p:sp>
          <p:nvSpPr>
            <p:cNvPr id="620" name="Google Shape;620;p29"/>
            <p:cNvSpPr/>
            <p:nvPr/>
          </p:nvSpPr>
          <p:spPr>
            <a:xfrm>
              <a:off x="1174967" y="1879914"/>
              <a:ext cx="6152816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0000"/>
                </a:gs>
                <a:gs pos="100000">
                  <a:srgbClr val="C73ECC"/>
                </a:gs>
              </a:gsLst>
              <a:lin ang="135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        Follow-up: A/B testing</a:t>
              </a:r>
              <a:endPara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1317071" y="1981610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5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grpSp>
        <p:nvGrpSpPr>
          <p:cNvPr id="622" name="Google Shape;622;p29"/>
          <p:cNvGrpSpPr/>
          <p:nvPr/>
        </p:nvGrpSpPr>
        <p:grpSpPr>
          <a:xfrm>
            <a:off x="1174967" y="1875138"/>
            <a:ext cx="2911120" cy="477712"/>
            <a:chOff x="1174967" y="2706230"/>
            <a:chExt cx="2911120" cy="477712"/>
          </a:xfrm>
        </p:grpSpPr>
        <p:sp>
          <p:nvSpPr>
            <p:cNvPr id="623" name="Google Shape;623;p29"/>
            <p:cNvSpPr/>
            <p:nvPr/>
          </p:nvSpPr>
          <p:spPr>
            <a:xfrm>
              <a:off x="1174967" y="2706230"/>
              <a:ext cx="2911120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77D3"/>
                </a:gs>
                <a:gs pos="2000">
                  <a:srgbClr val="0077D3"/>
                </a:gs>
                <a:gs pos="100000">
                  <a:srgbClr val="C73EC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Clarity &amp; Main Goal</a:t>
              </a:r>
              <a:endParaRPr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1317071" y="2807926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1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625" name="Google Shape;625;p29"/>
          <p:cNvSpPr/>
          <p:nvPr/>
        </p:nvSpPr>
        <p:spPr>
          <a:xfrm>
            <a:off x="1317071" y="2807926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626" name="Google Shape;626;p29"/>
          <p:cNvGrpSpPr/>
          <p:nvPr/>
        </p:nvGrpSpPr>
        <p:grpSpPr>
          <a:xfrm>
            <a:off x="1174967" y="3537322"/>
            <a:ext cx="2911120" cy="477712"/>
            <a:chOff x="1174967" y="3537322"/>
            <a:chExt cx="2911120" cy="477712"/>
          </a:xfrm>
        </p:grpSpPr>
        <p:sp>
          <p:nvSpPr>
            <p:cNvPr id="627" name="Google Shape;627;p29"/>
            <p:cNvSpPr/>
            <p:nvPr/>
          </p:nvSpPr>
          <p:spPr>
            <a:xfrm>
              <a:off x="1174967" y="3537322"/>
              <a:ext cx="2911120" cy="47771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77D3"/>
                </a:gs>
                <a:gs pos="2000">
                  <a:srgbClr val="0077D3"/>
                </a:gs>
                <a:gs pos="100000">
                  <a:srgbClr val="C73ECC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lang="en-US" sz="16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       Industry Alignment</a:t>
              </a:r>
              <a:endParaRPr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1317071" y="3639018"/>
              <a:ext cx="274320" cy="27432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3</a:t>
              </a:r>
              <a:endParaRPr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629" name="Google Shape;629;p29"/>
          <p:cNvSpPr/>
          <p:nvPr/>
        </p:nvSpPr>
        <p:spPr>
          <a:xfrm>
            <a:off x="1287202" y="4470110"/>
            <a:ext cx="274320" cy="2743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30" name="Google Shape;630;p29"/>
          <p:cNvSpPr txBox="1"/>
          <p:nvPr/>
        </p:nvSpPr>
        <p:spPr>
          <a:xfrm>
            <a:off x="7574227" y="5264900"/>
            <a:ext cx="29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Most common follow-ups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"/>
          <p:cNvSpPr txBox="1"/>
          <p:nvPr/>
        </p:nvSpPr>
        <p:spPr>
          <a:xfrm>
            <a:off x="4325733" y="657014"/>
            <a:ext cx="399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A/B Testing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36" name="Google Shape;636;p30"/>
          <p:cNvSpPr/>
          <p:nvPr/>
        </p:nvSpPr>
        <p:spPr>
          <a:xfrm>
            <a:off x="725424" y="1776375"/>
            <a:ext cx="1978200" cy="4776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Hypothesis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725424" y="3014125"/>
            <a:ext cx="1978200" cy="4776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Success Criteria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3790831" y="3014126"/>
            <a:ext cx="1782279" cy="4777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Control (A)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3790831" y="4399078"/>
            <a:ext cx="1782279" cy="4777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Experiment (B)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6679989" y="4400548"/>
            <a:ext cx="1782279" cy="4777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Guardrails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9245877" y="4402004"/>
            <a:ext cx="1782279" cy="4777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Significance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9245876" y="5559668"/>
            <a:ext cx="1782279" cy="4777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Release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3" name="Google Shape;643;p30"/>
          <p:cNvCxnSpPr>
            <a:stCxn id="636" idx="2"/>
            <a:endCxn id="637" idx="0"/>
          </p:cNvCxnSpPr>
          <p:nvPr/>
        </p:nvCxnSpPr>
        <p:spPr>
          <a:xfrm flipH="1" rot="-5400000">
            <a:off x="1334724" y="2633775"/>
            <a:ext cx="760200" cy="6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4" name="Google Shape;644;p30"/>
          <p:cNvCxnSpPr>
            <a:stCxn id="637" idx="3"/>
            <a:endCxn id="638" idx="1"/>
          </p:cNvCxnSpPr>
          <p:nvPr/>
        </p:nvCxnSpPr>
        <p:spPr>
          <a:xfrm>
            <a:off x="2703624" y="3252925"/>
            <a:ext cx="10872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5" name="Google Shape;645;p30"/>
          <p:cNvCxnSpPr>
            <a:stCxn id="637" idx="2"/>
            <a:endCxn id="639" idx="1"/>
          </p:cNvCxnSpPr>
          <p:nvPr/>
        </p:nvCxnSpPr>
        <p:spPr>
          <a:xfrm flipH="1" rot="-5400000">
            <a:off x="2179524" y="3026725"/>
            <a:ext cx="1146300" cy="20763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6" name="Google Shape;646;p30"/>
          <p:cNvCxnSpPr>
            <a:stCxn id="639" idx="3"/>
            <a:endCxn id="640" idx="1"/>
          </p:cNvCxnSpPr>
          <p:nvPr/>
        </p:nvCxnSpPr>
        <p:spPr>
          <a:xfrm>
            <a:off x="5573110" y="4637934"/>
            <a:ext cx="1107000" cy="15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7" name="Google Shape;647;p30"/>
          <p:cNvCxnSpPr>
            <a:stCxn id="640" idx="3"/>
            <a:endCxn id="641" idx="1"/>
          </p:cNvCxnSpPr>
          <p:nvPr/>
        </p:nvCxnSpPr>
        <p:spPr>
          <a:xfrm>
            <a:off x="8462268" y="4639404"/>
            <a:ext cx="783600" cy="15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8" name="Google Shape;648;p30"/>
          <p:cNvCxnSpPr>
            <a:stCxn id="641" idx="2"/>
            <a:endCxn id="642" idx="0"/>
          </p:cNvCxnSpPr>
          <p:nvPr/>
        </p:nvCxnSpPr>
        <p:spPr>
          <a:xfrm flipH="1" rot="-5400000">
            <a:off x="9797267" y="5219466"/>
            <a:ext cx="680100" cy="600"/>
          </a:xfrm>
          <a:prstGeom prst="bentConnector3">
            <a:avLst>
              <a:gd fmla="val 4998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649" name="Google Shape;649;p30"/>
          <p:cNvSpPr txBox="1"/>
          <p:nvPr/>
        </p:nvSpPr>
        <p:spPr>
          <a:xfrm>
            <a:off x="2703623" y="1876725"/>
            <a:ext cx="162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Color effects CTR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1875690" y="3554585"/>
            <a:ext cx="13043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5% lift minimum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4200108" y="3516353"/>
            <a:ext cx="963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CTR is 2.3%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2" name="Google Shape;652;p30"/>
          <p:cNvSpPr txBox="1"/>
          <p:nvPr/>
        </p:nvSpPr>
        <p:spPr>
          <a:xfrm>
            <a:off x="4200107" y="4942693"/>
            <a:ext cx="963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CTR is 2.6%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3" name="Google Shape;653;p30"/>
          <p:cNvSpPr txBox="1"/>
          <p:nvPr/>
        </p:nvSpPr>
        <p:spPr>
          <a:xfrm>
            <a:off x="7061049" y="4012125"/>
            <a:ext cx="146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CSAT / CTQs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4" name="Google Shape;654;p30"/>
          <p:cNvSpPr txBox="1"/>
          <p:nvPr/>
        </p:nvSpPr>
        <p:spPr>
          <a:xfrm>
            <a:off x="9326275" y="3834000"/>
            <a:ext cx="16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“Nooo, my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p-value &gt; 0.05”  </a:t>
            </a:r>
            <a:r>
              <a:rPr lang="en-US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😒</a:t>
            </a:r>
            <a:endParaRPr i="1"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6286534" y="3086050"/>
            <a:ext cx="3934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b="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6" name="Google Shape;656;p30"/>
          <p:cNvCxnSpPr>
            <a:stCxn id="638" idx="3"/>
            <a:endCxn id="655" idx="1"/>
          </p:cNvCxnSpPr>
          <p:nvPr/>
        </p:nvCxnSpPr>
        <p:spPr>
          <a:xfrm>
            <a:off x="5573110" y="3252982"/>
            <a:ext cx="713400" cy="24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id="657" name="Google Shape;6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0522" y="4295701"/>
            <a:ext cx="255002" cy="25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luffy, slightly mischievous Akita dog is sitting calmly on a couch, with its front paw touching a hand.&#10;&#10;AI-generated content may be incorrect." id="662" name="Google Shape;6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6354" y="1267096"/>
            <a:ext cx="5279291" cy="525126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1"/>
          <p:cNvSpPr txBox="1"/>
          <p:nvPr/>
        </p:nvSpPr>
        <p:spPr>
          <a:xfrm>
            <a:off x="2449284" y="459523"/>
            <a:ext cx="72934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4000"/>
              <a:buFont typeface="Quattrocento Sans"/>
              <a:buNone/>
            </a:pPr>
            <a:r>
              <a:t/>
            </a:r>
            <a:endParaRPr i="0" sz="4000" u="none" cap="none" strike="noStrike">
              <a:solidFill>
                <a:srgbClr val="0078D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4644600" y="459530"/>
            <a:ext cx="2902807" cy="441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0077D3"/>
                    </a:gs>
                    <a:gs pos="2000">
                      <a:srgbClr val="0077D3"/>
                    </a:gs>
                    <a:gs pos="100000">
                      <a:srgbClr val="C73ECC"/>
                    </a:gs>
                  </a:gsLst>
                  <a:lin ang="2698631" scaled="0"/>
                </a:gradFill>
                <a:latin typeface="Google Sans;600"/>
              </a:rPr>
              <a:t>Questions?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"/>
          <p:cNvSpPr txBox="1"/>
          <p:nvPr/>
        </p:nvSpPr>
        <p:spPr>
          <a:xfrm>
            <a:off x="2510271" y="793504"/>
            <a:ext cx="73898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Live mock interview!</a:t>
            </a:r>
            <a:r>
              <a:rPr lang="en-US" sz="1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</a:t>
            </a:r>
            <a:r>
              <a:rPr lang="en-US" sz="32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😱</a:t>
            </a:r>
            <a:endParaRPr sz="32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descr="Netflix show rankings out: Korean survivalist drama 'Squid Game' biggest  grosser" id="670" name="Google Shape;6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2585" y="2487673"/>
            <a:ext cx="7166830" cy="358341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2"/>
          <p:cNvSpPr txBox="1"/>
          <p:nvPr/>
        </p:nvSpPr>
        <p:spPr>
          <a:xfrm>
            <a:off x="3047268" y="1848529"/>
            <a:ext cx="6097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Your next task is to measure the success of        </a:t>
            </a:r>
            <a:r>
              <a:rPr lang="en-US" sz="1800">
                <a:solidFill>
                  <a:srgbClr val="EE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YouTube</a:t>
            </a:r>
            <a:r>
              <a:rPr lang="en-US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Free Youtube Logo Icon, Symbol. Download in SVG &amp; PNG Formats." id="672" name="Google Shape;6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0233" y="1883843"/>
            <a:ext cx="307848" cy="30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3"/>
          <p:cNvSpPr/>
          <p:nvPr/>
        </p:nvSpPr>
        <p:spPr>
          <a:xfrm>
            <a:off x="4017825" y="1801100"/>
            <a:ext cx="3296100" cy="1627800"/>
          </a:xfrm>
          <a:prstGeom prst="roundRect">
            <a:avLst>
              <a:gd fmla="val 16667" name="adj"/>
            </a:avLst>
          </a:prstGeom>
          <a:solidFill>
            <a:srgbClr val="FFFFFF">
              <a:alpha val="0"/>
            </a:srgbClr>
          </a:solidFill>
          <a:ln cap="flat" cmpd="sng" w="2857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3"/>
          <p:cNvSpPr txBox="1"/>
          <p:nvPr/>
        </p:nvSpPr>
        <p:spPr>
          <a:xfrm>
            <a:off x="3046600" y="589825"/>
            <a:ext cx="675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What’s the industry?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680" name="Google Shape;680;p33"/>
          <p:cNvGrpSpPr/>
          <p:nvPr/>
        </p:nvGrpSpPr>
        <p:grpSpPr>
          <a:xfrm>
            <a:off x="4329852" y="2860000"/>
            <a:ext cx="4441244" cy="400110"/>
            <a:chOff x="3630336" y="3435550"/>
            <a:chExt cx="4441244" cy="400110"/>
          </a:xfrm>
        </p:grpSpPr>
        <p:sp>
          <p:nvSpPr>
            <p:cNvPr id="681" name="Google Shape;681;p33"/>
            <p:cNvSpPr txBox="1"/>
            <p:nvPr/>
          </p:nvSpPr>
          <p:spPr>
            <a:xfrm>
              <a:off x="4084041" y="3435550"/>
              <a:ext cx="39875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Ads</a:t>
              </a:r>
              <a:endParaRPr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Instagram Logo png and symbol, meaning, history" id="682" name="Google Shape;682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30336" y="3485506"/>
              <a:ext cx="537938" cy="3025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3" name="Google Shape;683;p33"/>
          <p:cNvGrpSpPr/>
          <p:nvPr/>
        </p:nvGrpSpPr>
        <p:grpSpPr>
          <a:xfrm>
            <a:off x="4371968" y="2016226"/>
            <a:ext cx="4003475" cy="453705"/>
            <a:chOff x="1692821" y="3362426"/>
            <a:chExt cx="4003475" cy="453705"/>
          </a:xfrm>
        </p:grpSpPr>
        <p:sp>
          <p:nvSpPr>
            <p:cNvPr id="684" name="Google Shape;684;p33"/>
            <p:cNvSpPr txBox="1"/>
            <p:nvPr/>
          </p:nvSpPr>
          <p:spPr>
            <a:xfrm>
              <a:off x="2104410" y="3389224"/>
              <a:ext cx="35918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Subscriptions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685" name="Google Shape;685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92821" y="3362426"/>
              <a:ext cx="453705" cy="4537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6" name="Google Shape;686;p33"/>
          <p:cNvGrpSpPr/>
          <p:nvPr/>
        </p:nvGrpSpPr>
        <p:grpSpPr>
          <a:xfrm>
            <a:off x="4418371" y="3592916"/>
            <a:ext cx="3937063" cy="400110"/>
            <a:chOff x="1717117" y="4446525"/>
            <a:chExt cx="3937063" cy="400110"/>
          </a:xfrm>
        </p:grpSpPr>
        <p:sp>
          <p:nvSpPr>
            <p:cNvPr id="687" name="Google Shape;687;p33"/>
            <p:cNvSpPr txBox="1"/>
            <p:nvPr/>
          </p:nvSpPr>
          <p:spPr>
            <a:xfrm>
              <a:off x="2062294" y="4446525"/>
              <a:ext cx="35918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Software-as-a-Service (SaaS)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Logo, slack icon - Free download on Iconfinder" id="688" name="Google Shape;688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17117" y="4486140"/>
              <a:ext cx="320879" cy="3208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9" name="Google Shape;689;p33"/>
          <p:cNvGrpSpPr/>
          <p:nvPr/>
        </p:nvGrpSpPr>
        <p:grpSpPr>
          <a:xfrm>
            <a:off x="4418370" y="4423901"/>
            <a:ext cx="3937064" cy="400110"/>
            <a:chOff x="8015081" y="2664608"/>
            <a:chExt cx="3937064" cy="400110"/>
          </a:xfrm>
        </p:grpSpPr>
        <p:sp>
          <p:nvSpPr>
            <p:cNvPr id="690" name="Google Shape;690;p33"/>
            <p:cNvSpPr txBox="1"/>
            <p:nvPr/>
          </p:nvSpPr>
          <p:spPr>
            <a:xfrm>
              <a:off x="8360259" y="2664608"/>
              <a:ext cx="35918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Two-sided Markets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Uber - Free social media icons" id="691" name="Google Shape;691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15081" y="2711196"/>
              <a:ext cx="320879" cy="3208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2" name="Google Shape;692;p33"/>
          <p:cNvGrpSpPr/>
          <p:nvPr/>
        </p:nvGrpSpPr>
        <p:grpSpPr>
          <a:xfrm>
            <a:off x="4309843" y="5268830"/>
            <a:ext cx="3003957" cy="453705"/>
            <a:chOff x="7930970" y="3754945"/>
            <a:chExt cx="3003957" cy="453705"/>
          </a:xfrm>
        </p:grpSpPr>
        <p:sp>
          <p:nvSpPr>
            <p:cNvPr id="693" name="Google Shape;693;p33"/>
            <p:cNvSpPr txBox="1"/>
            <p:nvPr/>
          </p:nvSpPr>
          <p:spPr>
            <a:xfrm>
              <a:off x="8384675" y="3754945"/>
              <a:ext cx="25502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E-commerce</a:t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File:Amazon icon.png - Wikimedia Commons" id="694" name="Google Shape;694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30970" y="3754945"/>
              <a:ext cx="453705" cy="45370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4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Subscriptions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YouTube Premium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1391285" y="4345265"/>
            <a:ext cx="100965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01" name="Google Shape;701;p34"/>
          <p:cNvCxnSpPr>
            <a:stCxn id="702" idx="2"/>
            <a:endCxn id="703" idx="0"/>
          </p:cNvCxnSpPr>
          <p:nvPr/>
        </p:nvCxnSpPr>
        <p:spPr>
          <a:xfrm rot="5400000">
            <a:off x="4122411" y="1066977"/>
            <a:ext cx="608100" cy="27099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4" name="Google Shape;704;p34"/>
          <p:cNvCxnSpPr>
            <a:stCxn id="702" idx="2"/>
            <a:endCxn id="705" idx="0"/>
          </p:cNvCxnSpPr>
          <p:nvPr/>
        </p:nvCxnSpPr>
        <p:spPr>
          <a:xfrm flipH="1" rot="-5400000">
            <a:off x="6649161" y="1250127"/>
            <a:ext cx="611100" cy="23466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6" name="Google Shape;706;p34"/>
          <p:cNvCxnSpPr>
            <a:stCxn id="703" idx="2"/>
            <a:endCxn id="700" idx="0"/>
          </p:cNvCxnSpPr>
          <p:nvPr/>
        </p:nvCxnSpPr>
        <p:spPr>
          <a:xfrm rot="5400000">
            <a:off x="1912934" y="3186754"/>
            <a:ext cx="1141500" cy="11754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7" name="Google Shape;707;p34"/>
          <p:cNvCxnSpPr>
            <a:stCxn id="703" idx="2"/>
            <a:endCxn id="708" idx="0"/>
          </p:cNvCxnSpPr>
          <p:nvPr/>
        </p:nvCxnSpPr>
        <p:spPr>
          <a:xfrm flipH="1" rot="-5400000">
            <a:off x="3116534" y="3158554"/>
            <a:ext cx="1141500" cy="12318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9" name="Google Shape;709;p34"/>
          <p:cNvCxnSpPr>
            <a:stCxn id="705" idx="2"/>
            <a:endCxn id="710" idx="0"/>
          </p:cNvCxnSpPr>
          <p:nvPr/>
        </p:nvCxnSpPr>
        <p:spPr>
          <a:xfrm rot="5400000">
            <a:off x="6782500" y="3016008"/>
            <a:ext cx="1155000" cy="15363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11" name="Google Shape;711;p34"/>
          <p:cNvCxnSpPr>
            <a:stCxn id="705" idx="2"/>
            <a:endCxn id="712" idx="0"/>
          </p:cNvCxnSpPr>
          <p:nvPr/>
        </p:nvCxnSpPr>
        <p:spPr>
          <a:xfrm flipH="1" rot="-5400000">
            <a:off x="8146300" y="3188508"/>
            <a:ext cx="1138500" cy="11748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13" name="Google Shape;713;p34"/>
          <p:cNvCxnSpPr>
            <a:stCxn id="712" idx="2"/>
            <a:endCxn id="714" idx="0"/>
          </p:cNvCxnSpPr>
          <p:nvPr/>
        </p:nvCxnSpPr>
        <p:spPr>
          <a:xfrm rot="5400000">
            <a:off x="8251550" y="4612677"/>
            <a:ext cx="841200" cy="12618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15" name="Google Shape;715;p34"/>
          <p:cNvCxnSpPr>
            <a:stCxn id="712" idx="2"/>
            <a:endCxn id="716" idx="0"/>
          </p:cNvCxnSpPr>
          <p:nvPr/>
        </p:nvCxnSpPr>
        <p:spPr>
          <a:xfrm flipH="1" rot="-5400000">
            <a:off x="9509300" y="4616727"/>
            <a:ext cx="841200" cy="12537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717" name="Google Shape;717;p34"/>
          <p:cNvSpPr txBox="1"/>
          <p:nvPr/>
        </p:nvSpPr>
        <p:spPr>
          <a:xfrm>
            <a:off x="5636180" y="2780184"/>
            <a:ext cx="2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18" name="Google Shape;718;p34"/>
          <p:cNvSpPr txBox="1"/>
          <p:nvPr/>
        </p:nvSpPr>
        <p:spPr>
          <a:xfrm>
            <a:off x="2839852" y="4379364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19" name="Google Shape;719;p34"/>
          <p:cNvSpPr txBox="1"/>
          <p:nvPr/>
        </p:nvSpPr>
        <p:spPr>
          <a:xfrm>
            <a:off x="7723919" y="439945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20" name="Google Shape;720;p34"/>
          <p:cNvSpPr txBox="1"/>
          <p:nvPr/>
        </p:nvSpPr>
        <p:spPr>
          <a:xfrm>
            <a:off x="9127344" y="5718302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5309119" y="1640165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1812314" y="2725992"/>
            <a:ext cx="25181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Monthly Paying Users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5" name="Google Shape;705;p34"/>
          <p:cNvSpPr/>
          <p:nvPr/>
        </p:nvSpPr>
        <p:spPr>
          <a:xfrm>
            <a:off x="7428594" y="2728946"/>
            <a:ext cx="1399112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ARPU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8175021" y="4345265"/>
            <a:ext cx="2256057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Promotional pricing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8" name="Google Shape;708;p34"/>
          <p:cNvSpPr/>
          <p:nvPr/>
        </p:nvSpPr>
        <p:spPr>
          <a:xfrm>
            <a:off x="3511933" y="4345265"/>
            <a:ext cx="158261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Upgrade rate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0" name="Google Shape;710;p34"/>
          <p:cNvSpPr/>
          <p:nvPr/>
        </p:nvSpPr>
        <p:spPr>
          <a:xfrm>
            <a:off x="5645692" y="4361780"/>
            <a:ext cx="189210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Standard pricing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4" name="Google Shape;714;p34"/>
          <p:cNvSpPr/>
          <p:nvPr/>
        </p:nvSpPr>
        <p:spPr>
          <a:xfrm>
            <a:off x="7095054" y="5664113"/>
            <a:ext cx="189210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Family discount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6" name="Google Shape;716;p34"/>
          <p:cNvSpPr/>
          <p:nvPr/>
        </p:nvSpPr>
        <p:spPr>
          <a:xfrm>
            <a:off x="9610646" y="5664113"/>
            <a:ext cx="1892108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Student discount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5"/>
          <p:cNvSpPr txBox="1"/>
          <p:nvPr/>
        </p:nvSpPr>
        <p:spPr>
          <a:xfrm>
            <a:off x="3046602" y="589818"/>
            <a:ext cx="60987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Ads</a:t>
            </a: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-US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 YouTube (Free)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726" name="Google Shape;726;p35"/>
          <p:cNvCxnSpPr>
            <a:stCxn id="727" idx="2"/>
            <a:endCxn id="728" idx="0"/>
          </p:cNvCxnSpPr>
          <p:nvPr/>
        </p:nvCxnSpPr>
        <p:spPr>
          <a:xfrm flipH="1" rot="-5400000">
            <a:off x="6802143" y="1024634"/>
            <a:ext cx="418200" cy="23844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29" name="Google Shape;729;p35"/>
          <p:cNvCxnSpPr>
            <a:stCxn id="727" idx="2"/>
            <a:endCxn id="730" idx="0"/>
          </p:cNvCxnSpPr>
          <p:nvPr/>
        </p:nvCxnSpPr>
        <p:spPr>
          <a:xfrm rot="5400000">
            <a:off x="4487043" y="1100534"/>
            <a:ext cx="424800" cy="22392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1" name="Google Shape;731;p35"/>
          <p:cNvCxnSpPr>
            <a:stCxn id="728" idx="2"/>
            <a:endCxn id="732" idx="0"/>
          </p:cNvCxnSpPr>
          <p:nvPr/>
        </p:nvCxnSpPr>
        <p:spPr>
          <a:xfrm rot="5400000">
            <a:off x="7300959" y="2483276"/>
            <a:ext cx="482100" cy="13230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3" name="Google Shape;733;p35"/>
          <p:cNvCxnSpPr/>
          <p:nvPr/>
        </p:nvCxnSpPr>
        <p:spPr>
          <a:xfrm flipH="1" rot="-5400000">
            <a:off x="7960254" y="3148197"/>
            <a:ext cx="477600" cy="600"/>
          </a:xfrm>
          <a:prstGeom prst="bentConnector3">
            <a:avLst>
              <a:gd fmla="val 5001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4" name="Google Shape;734;p35"/>
          <p:cNvCxnSpPr>
            <a:stCxn id="728" idx="2"/>
            <a:endCxn id="735" idx="0"/>
          </p:cNvCxnSpPr>
          <p:nvPr/>
        </p:nvCxnSpPr>
        <p:spPr>
          <a:xfrm flipH="1" rot="-5400000">
            <a:off x="8580459" y="2526776"/>
            <a:ext cx="493800" cy="1247700"/>
          </a:xfrm>
          <a:prstGeom prst="bentConnector3">
            <a:avLst>
              <a:gd fmla="val 4998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6" name="Google Shape;736;p35"/>
          <p:cNvCxnSpPr>
            <a:stCxn id="730" idx="2"/>
            <a:endCxn id="737" idx="0"/>
          </p:cNvCxnSpPr>
          <p:nvPr/>
        </p:nvCxnSpPr>
        <p:spPr>
          <a:xfrm rot="5400000">
            <a:off x="2725860" y="2531949"/>
            <a:ext cx="475800" cy="12321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8" name="Google Shape;738;p35"/>
          <p:cNvCxnSpPr>
            <a:stCxn id="730" idx="2"/>
            <a:endCxn id="739" idx="0"/>
          </p:cNvCxnSpPr>
          <p:nvPr/>
        </p:nvCxnSpPr>
        <p:spPr>
          <a:xfrm flipH="1" rot="-5400000">
            <a:off x="4023360" y="2466549"/>
            <a:ext cx="479700" cy="13668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40" name="Google Shape;740;p35"/>
          <p:cNvCxnSpPr>
            <a:stCxn id="737" idx="2"/>
            <a:endCxn id="741" idx="0"/>
          </p:cNvCxnSpPr>
          <p:nvPr/>
        </p:nvCxnSpPr>
        <p:spPr>
          <a:xfrm flipH="1" rot="-5400000">
            <a:off x="2082905" y="4128398"/>
            <a:ext cx="539400" cy="96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42" name="Google Shape;742;p35"/>
          <p:cNvCxnSpPr>
            <a:stCxn id="737" idx="2"/>
            <a:endCxn id="743" idx="0"/>
          </p:cNvCxnSpPr>
          <p:nvPr/>
        </p:nvCxnSpPr>
        <p:spPr>
          <a:xfrm flipH="1" rot="-5400000">
            <a:off x="3362855" y="2848448"/>
            <a:ext cx="539400" cy="25695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44" name="Google Shape;744;p35"/>
          <p:cNvCxnSpPr>
            <a:stCxn id="743" idx="2"/>
            <a:endCxn id="745" idx="0"/>
          </p:cNvCxnSpPr>
          <p:nvPr/>
        </p:nvCxnSpPr>
        <p:spPr>
          <a:xfrm rot="5400000">
            <a:off x="4093247" y="4693480"/>
            <a:ext cx="636900" cy="1011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46" name="Google Shape;746;p35"/>
          <p:cNvCxnSpPr>
            <a:stCxn id="743" idx="2"/>
            <a:endCxn id="747" idx="0"/>
          </p:cNvCxnSpPr>
          <p:nvPr/>
        </p:nvCxnSpPr>
        <p:spPr>
          <a:xfrm flipH="1" rot="-5400000">
            <a:off x="5180147" y="4617880"/>
            <a:ext cx="640800" cy="11664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748" name="Google Shape;748;p35"/>
          <p:cNvSpPr txBox="1"/>
          <p:nvPr/>
        </p:nvSpPr>
        <p:spPr>
          <a:xfrm>
            <a:off x="5673811" y="2466001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49" name="Google Shape;749;p35"/>
          <p:cNvSpPr txBox="1"/>
          <p:nvPr/>
        </p:nvSpPr>
        <p:spPr>
          <a:xfrm>
            <a:off x="3498362" y="3441598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50" name="Google Shape;750;p35"/>
          <p:cNvSpPr txBox="1"/>
          <p:nvPr/>
        </p:nvSpPr>
        <p:spPr>
          <a:xfrm>
            <a:off x="3498362" y="4402968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51" name="Google Shape;751;p35"/>
          <p:cNvSpPr txBox="1"/>
          <p:nvPr/>
        </p:nvSpPr>
        <p:spPr>
          <a:xfrm>
            <a:off x="4772114" y="5537093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52" name="Google Shape;752;p35"/>
          <p:cNvSpPr txBox="1"/>
          <p:nvPr/>
        </p:nvSpPr>
        <p:spPr>
          <a:xfrm>
            <a:off x="7394330" y="3431792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endParaRPr/>
          </a:p>
        </p:txBody>
      </p:sp>
      <p:sp>
        <p:nvSpPr>
          <p:cNvPr id="753" name="Google Shape;753;p35"/>
          <p:cNvSpPr txBox="1"/>
          <p:nvPr/>
        </p:nvSpPr>
        <p:spPr>
          <a:xfrm>
            <a:off x="8657465" y="3431792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27" name="Google Shape;727;p35"/>
          <p:cNvSpPr/>
          <p:nvPr/>
        </p:nvSpPr>
        <p:spPr>
          <a:xfrm>
            <a:off x="5346751" y="1530022"/>
            <a:ext cx="94458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MRR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2977634" y="2432387"/>
            <a:ext cx="1204351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of ads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7601333" y="2426014"/>
            <a:ext cx="1204351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$ per ad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7" name="Google Shape;737;p35"/>
          <p:cNvSpPr/>
          <p:nvPr/>
        </p:nvSpPr>
        <p:spPr>
          <a:xfrm>
            <a:off x="1535894" y="3385786"/>
            <a:ext cx="1623821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videos seen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3" name="Google Shape;743;p35"/>
          <p:cNvSpPr/>
          <p:nvPr/>
        </p:nvSpPr>
        <p:spPr>
          <a:xfrm>
            <a:off x="4109895" y="4402968"/>
            <a:ext cx="161490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Total time-</a:t>
            </a:r>
            <a:b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on-site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5" name="Google Shape;745;p35"/>
          <p:cNvSpPr/>
          <p:nvPr/>
        </p:nvSpPr>
        <p:spPr>
          <a:xfrm>
            <a:off x="3401094" y="5517503"/>
            <a:ext cx="100965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MAU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9" name="Google Shape;739;p35"/>
          <p:cNvSpPr/>
          <p:nvPr/>
        </p:nvSpPr>
        <p:spPr>
          <a:xfrm>
            <a:off x="4165622" y="3389904"/>
            <a:ext cx="1562063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ads / video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1" name="Google Shape;741;p35"/>
          <p:cNvSpPr/>
          <p:nvPr/>
        </p:nvSpPr>
        <p:spPr>
          <a:xfrm>
            <a:off x="1620206" y="4402968"/>
            <a:ext cx="1474200" cy="477600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# videos seen </a:t>
            </a:r>
            <a:b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/ minute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7" name="Google Shape;747;p35"/>
          <p:cNvSpPr/>
          <p:nvPr/>
        </p:nvSpPr>
        <p:spPr>
          <a:xfrm>
            <a:off x="5346751" y="5521610"/>
            <a:ext cx="1474140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Average time-on-site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6488898" y="3385786"/>
            <a:ext cx="782949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CPC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4" name="Google Shape;754;p35"/>
          <p:cNvSpPr/>
          <p:nvPr/>
        </p:nvSpPr>
        <p:spPr>
          <a:xfrm>
            <a:off x="7815632" y="3385786"/>
            <a:ext cx="782949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CTR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9059713" y="3397395"/>
            <a:ext cx="782949" cy="477712"/>
          </a:xfrm>
          <a:prstGeom prst="roundRect">
            <a:avLst>
              <a:gd fmla="val 50000" name="adj"/>
            </a:avLst>
          </a:prstGeom>
          <a:noFill/>
          <a:ln cap="flat" cmpd="sng" w="3175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CPM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/>
          <p:nvPr/>
        </p:nvSpPr>
        <p:spPr>
          <a:xfrm>
            <a:off x="3235500" y="400650"/>
            <a:ext cx="5721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Placement Prep Tips</a:t>
            </a:r>
            <a:endParaRPr sz="18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760" name="Google Shape;760;p36"/>
          <p:cNvSpPr/>
          <p:nvPr/>
        </p:nvSpPr>
        <p:spPr>
          <a:xfrm rot="5400000">
            <a:off x="1728276" y="3965357"/>
            <a:ext cx="4847197" cy="1146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5C39"/>
              </a:gs>
              <a:gs pos="6000">
                <a:srgbClr val="FF5C39"/>
              </a:gs>
              <a:gs pos="32000">
                <a:srgbClr val="C03BC4"/>
              </a:gs>
              <a:gs pos="56000">
                <a:srgbClr val="0078D4"/>
              </a:gs>
              <a:gs pos="84000">
                <a:srgbClr val="399A91"/>
              </a:gs>
              <a:gs pos="100000">
                <a:srgbClr val="399A9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1" name="Google Shape;761;p36"/>
          <p:cNvSpPr txBox="1"/>
          <p:nvPr/>
        </p:nvSpPr>
        <p:spPr>
          <a:xfrm>
            <a:off x="3101879" y="1793240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Oct W1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2" name="Google Shape;762;p36"/>
          <p:cNvSpPr/>
          <p:nvPr/>
        </p:nvSpPr>
        <p:spPr>
          <a:xfrm rot="5400000">
            <a:off x="4049886" y="1590311"/>
            <a:ext cx="203979" cy="202536"/>
          </a:xfrm>
          <a:prstGeom prst="ellipse">
            <a:avLst/>
          </a:prstGeom>
          <a:solidFill>
            <a:srgbClr val="399A91"/>
          </a:soli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3" name="Google Shape;763;p36"/>
          <p:cNvSpPr/>
          <p:nvPr/>
        </p:nvSpPr>
        <p:spPr>
          <a:xfrm rot="10800000">
            <a:off x="4045395" y="6380848"/>
            <a:ext cx="225959" cy="202536"/>
          </a:xfrm>
          <a:prstGeom prst="triangle">
            <a:avLst>
              <a:gd fmla="val 50000" name="adj"/>
            </a:avLst>
          </a:prstGeom>
          <a:solidFill>
            <a:srgbClr val="FF5C39"/>
          </a:solidFill>
          <a:ln>
            <a:noFill/>
          </a:ln>
          <a:effectLst>
            <a:outerShdw blurRad="63500" rotWithShape="0" algn="tl" dir="2700000" dist="63500">
              <a:srgbClr val="454142">
                <a:alpha val="20000"/>
              </a:srgbClr>
            </a:outerShdw>
          </a:effectLst>
        </p:spPr>
        <p:txBody>
          <a:bodyPr anchorCtr="0" anchor="ctr" bIns="73150" lIns="182875" spcFirstLastPara="1" rIns="1828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4" name="Google Shape;764;p36"/>
          <p:cNvSpPr txBox="1"/>
          <p:nvPr/>
        </p:nvSpPr>
        <p:spPr>
          <a:xfrm>
            <a:off x="3101878" y="2352039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Oct W2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5" name="Google Shape;765;p36"/>
          <p:cNvSpPr txBox="1"/>
          <p:nvPr/>
        </p:nvSpPr>
        <p:spPr>
          <a:xfrm>
            <a:off x="3101878" y="2910839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Oct W3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6" name="Google Shape;766;p36"/>
          <p:cNvSpPr txBox="1"/>
          <p:nvPr/>
        </p:nvSpPr>
        <p:spPr>
          <a:xfrm>
            <a:off x="3101878" y="3469639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Oct W4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7" name="Google Shape;767;p36"/>
          <p:cNvSpPr txBox="1"/>
          <p:nvPr/>
        </p:nvSpPr>
        <p:spPr>
          <a:xfrm>
            <a:off x="3101878" y="4028439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Nov W1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8" name="Google Shape;768;p36"/>
          <p:cNvSpPr txBox="1"/>
          <p:nvPr/>
        </p:nvSpPr>
        <p:spPr>
          <a:xfrm>
            <a:off x="3101877" y="4587238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Nov W2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9" name="Google Shape;769;p36"/>
          <p:cNvSpPr txBox="1"/>
          <p:nvPr/>
        </p:nvSpPr>
        <p:spPr>
          <a:xfrm>
            <a:off x="3101877" y="5146038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Nov W3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0" name="Google Shape;770;p36"/>
          <p:cNvSpPr txBox="1"/>
          <p:nvPr/>
        </p:nvSpPr>
        <p:spPr>
          <a:xfrm>
            <a:off x="3101877" y="5714998"/>
            <a:ext cx="158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Nov W4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1" name="Google Shape;771;p36"/>
          <p:cNvSpPr txBox="1"/>
          <p:nvPr/>
        </p:nvSpPr>
        <p:spPr>
          <a:xfrm>
            <a:off x="4503958" y="1793240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Product design, metrics - practice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2" name="Google Shape;772;p36"/>
          <p:cNvSpPr txBox="1"/>
          <p:nvPr/>
        </p:nvSpPr>
        <p:spPr>
          <a:xfrm>
            <a:off x="4503957" y="2362200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Product strategy, RCA - practice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3" name="Google Shape;773;p36"/>
          <p:cNvSpPr txBox="1"/>
          <p:nvPr/>
        </p:nvSpPr>
        <p:spPr>
          <a:xfrm>
            <a:off x="4503956" y="3469639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Mock interviews with classmates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4" name="Google Shape;774;p36"/>
          <p:cNvSpPr txBox="1"/>
          <p:nvPr/>
        </p:nvSpPr>
        <p:spPr>
          <a:xfrm>
            <a:off x="4503956" y="4028438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Mock interviews with alums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5" name="Google Shape;775;p36"/>
          <p:cNvSpPr txBox="1"/>
          <p:nvPr/>
        </p:nvSpPr>
        <p:spPr>
          <a:xfrm>
            <a:off x="4503956" y="2910838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Guesstimates, GTM - practice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6" name="Google Shape;776;p36"/>
          <p:cNvSpPr txBox="1"/>
          <p:nvPr/>
        </p:nvSpPr>
        <p:spPr>
          <a:xfrm>
            <a:off x="4503956" y="4587237"/>
            <a:ext cx="5008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Prep specifically for shortlisted companies - BTC handbook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7" name="Google Shape;777;p36"/>
          <p:cNvSpPr txBox="1"/>
          <p:nvPr/>
        </p:nvSpPr>
        <p:spPr>
          <a:xfrm>
            <a:off x="4503956" y="5146037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Mock interviews with shortlisted company alums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8" name="Google Shape;778;p36"/>
          <p:cNvSpPr txBox="1"/>
          <p:nvPr/>
        </p:nvSpPr>
        <p:spPr>
          <a:xfrm>
            <a:off x="4503956" y="5714996"/>
            <a:ext cx="54152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Prioritized revision on shortlisted company question types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741" y="1836294"/>
            <a:ext cx="3343671" cy="33436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4" name="Google Shape;784;p37"/>
          <p:cNvSpPr txBox="1"/>
          <p:nvPr/>
        </p:nvSpPr>
        <p:spPr>
          <a:xfrm>
            <a:off x="4204523" y="5389621"/>
            <a:ext cx="42181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70C0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https://forms.gle/ovnAGxqh3kiuyzCGA</a:t>
            </a:r>
            <a:endParaRPr sz="1800">
              <a:solidFill>
                <a:srgbClr val="0070C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5" name="Google Shape;785;p37"/>
          <p:cNvSpPr txBox="1"/>
          <p:nvPr/>
        </p:nvSpPr>
        <p:spPr>
          <a:xfrm>
            <a:off x="3264846" y="826737"/>
            <a:ext cx="609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Help me with my CSAT</a:t>
            </a:r>
            <a:endParaRPr sz="32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">
  <a:themeElements>
    <a:clrScheme name="Viva EXP Studio">
      <a:dk1>
        <a:srgbClr val="000000"/>
      </a:dk1>
      <a:lt1>
        <a:srgbClr val="FFFFFF"/>
      </a:lt1>
      <a:dk2>
        <a:srgbClr val="414141"/>
      </a:dk2>
      <a:lt2>
        <a:srgbClr val="FAFAFA"/>
      </a:lt2>
      <a:accent1>
        <a:srgbClr val="335CCC"/>
      </a:accent1>
      <a:accent2>
        <a:srgbClr val="6993FA"/>
      </a:accent2>
      <a:accent3>
        <a:srgbClr val="9A6FFF"/>
      </a:accent3>
      <a:accent4>
        <a:srgbClr val="74CAEA"/>
      </a:accent4>
      <a:accent5>
        <a:srgbClr val="BC2F32"/>
      </a:accent5>
      <a:accent6>
        <a:srgbClr val="0E700E"/>
      </a:accent6>
      <a:hlink>
        <a:srgbClr val="6993FA"/>
      </a:hlink>
      <a:folHlink>
        <a:srgbClr val="9A6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2026-08-25T07:08:59Z</dcterms:created>
  <dc:creator>Virat Singh</dc:creator>
</cp:coreProperties>
</file>