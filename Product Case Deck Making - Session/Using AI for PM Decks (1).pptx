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2"/>
  </p:notesMasterIdLst>
  <p:sldIdLst>
    <p:sldId id="11174" r:id="rId2"/>
    <p:sldId id="11196" r:id="rId3"/>
    <p:sldId id="257" r:id="rId4"/>
    <p:sldId id="11175" r:id="rId5"/>
    <p:sldId id="11177" r:id="rId6"/>
    <p:sldId id="11202" r:id="rId7"/>
    <p:sldId id="11178" r:id="rId8"/>
    <p:sldId id="11179" r:id="rId9"/>
    <p:sldId id="11180" r:id="rId10"/>
    <p:sldId id="11181" r:id="rId11"/>
    <p:sldId id="11176" r:id="rId12"/>
    <p:sldId id="11182" r:id="rId13"/>
    <p:sldId id="11183" r:id="rId14"/>
    <p:sldId id="11184" r:id="rId15"/>
    <p:sldId id="11197" r:id="rId16"/>
    <p:sldId id="11185" r:id="rId17"/>
    <p:sldId id="11186" r:id="rId18"/>
    <p:sldId id="11187" r:id="rId19"/>
    <p:sldId id="11190" r:id="rId20"/>
    <p:sldId id="11201" r:id="rId21"/>
    <p:sldId id="11193" r:id="rId22"/>
    <p:sldId id="11194" r:id="rId23"/>
    <p:sldId id="11195" r:id="rId24"/>
    <p:sldId id="11191" r:id="rId25"/>
    <p:sldId id="11188" r:id="rId26"/>
    <p:sldId id="11198" r:id="rId27"/>
    <p:sldId id="11199" r:id="rId28"/>
    <p:sldId id="11200" r:id="rId29"/>
    <p:sldId id="11192" r:id="rId30"/>
    <p:sldId id="11203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  <a:srgbClr val="1ED760"/>
    <a:srgbClr val="ECE8E4"/>
    <a:srgbClr val="1E1E1E"/>
    <a:srgbClr val="0131FF"/>
    <a:srgbClr val="E50914"/>
    <a:srgbClr val="000000"/>
    <a:srgbClr val="FFF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90"/>
    <p:restoredTop sz="94691"/>
  </p:normalViewPr>
  <p:slideViewPr>
    <p:cSldViewPr snapToGrid="0">
      <p:cViewPr>
        <p:scale>
          <a:sx n="79" d="100"/>
          <a:sy n="79" d="100"/>
        </p:scale>
        <p:origin x="64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5DE9C-6E2F-2949-9CA8-16AFD144455B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D1C59-2965-1643-A938-48049A82A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3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D1C59-2965-1643-A938-48049A82A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1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9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68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945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0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08B35AB-BDD0-45AD-B27B-9A2D9C59A1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015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08B35AB-BDD0-45AD-B27B-9A2D9C59A1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B433DBD-2C59-B1A1-1B77-F3C24CB3007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30" y="3062792"/>
            <a:ext cx="1746220" cy="7297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6448B7-E967-AFD0-1492-FF860A207E47}"/>
              </a:ext>
            </a:extLst>
          </p:cNvPr>
          <p:cNvSpPr txBox="1"/>
          <p:nvPr userDrawn="1"/>
        </p:nvSpPr>
        <p:spPr bwMode="white">
          <a:xfrm>
            <a:off x="965770" y="5745913"/>
            <a:ext cx="840801" cy="17011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solidFill>
                  <a:schemeClr val="tx1"/>
                </a:solidFill>
                <a:latin typeface="+mn-lt"/>
                <a:sym typeface="Trebuchet MS" panose="020B0603020202020204" pitchFamily="34" charset="0"/>
              </a:rPr>
              <a:t>bcg.com/x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85DA9A84-6103-21A8-3E08-FA4ED6894A51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5864716" y="941977"/>
            <a:ext cx="5864572" cy="4974046"/>
          </a:xfrm>
          <a:prstGeom prst="rect">
            <a:avLst/>
          </a:prstGeom>
        </p:spPr>
      </p:pic>
      <p:pic>
        <p:nvPicPr>
          <p:cNvPr id="4" name="TitleAndEndImages">
            <a:extLst>
              <a:ext uri="{FF2B5EF4-FFF2-40B4-BE49-F238E27FC236}">
                <a16:creationId xmlns:a16="http://schemas.microsoft.com/office/drawing/2014/main" id="{906AF698-F4D0-BF8D-7331-AAAFF64F66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0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36AC0B5-C902-7FE9-4A8A-FBDB093F51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7828193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7772400" imgH="10058400" progId="TCLayout.ActiveDocument.1">
                  <p:embed/>
                </p:oleObj>
              </mc:Choice>
              <mc:Fallback>
                <p:oleObj name="think-cell Slide" r:id="rId31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1" r:id="rId2"/>
    <p:sldLayoutId id="2147483785" r:id="rId3"/>
    <p:sldLayoutId id="2147483787" r:id="rId4"/>
    <p:sldLayoutId id="2147483789" r:id="rId5"/>
    <p:sldLayoutId id="2147483790" r:id="rId6"/>
    <p:sldLayoutId id="2147483791" r:id="rId7"/>
    <p:sldLayoutId id="2147483794" r:id="rId8"/>
    <p:sldLayoutId id="2147483796" r:id="rId9"/>
    <p:sldLayoutId id="2147483797" r:id="rId10"/>
    <p:sldLayoutId id="2147483799" r:id="rId11"/>
    <p:sldLayoutId id="2147483800" r:id="rId12"/>
    <p:sldLayoutId id="2147483802" r:id="rId13"/>
    <p:sldLayoutId id="2147483804" r:id="rId14"/>
    <p:sldLayoutId id="2147483805" r:id="rId15"/>
    <p:sldLayoutId id="2147483808" r:id="rId16"/>
    <p:sldLayoutId id="2147483812" r:id="rId17"/>
    <p:sldLayoutId id="2147483855" r:id="rId18"/>
    <p:sldLayoutId id="2147483814" r:id="rId19"/>
    <p:sldLayoutId id="2147483817" r:id="rId20"/>
    <p:sldLayoutId id="2147483820" r:id="rId21"/>
    <p:sldLayoutId id="2147483858" r:id="rId22"/>
    <p:sldLayoutId id="2147483859" r:id="rId23"/>
    <p:sldLayoutId id="2147483825" r:id="rId24"/>
    <p:sldLayoutId id="2147483826" r:id="rId25"/>
    <p:sldLayoutId id="2147483829" r:id="rId26"/>
    <p:sldLayoutId id="2147483830" r:id="rId27"/>
    <p:sldLayoutId id="2147483860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Relationship Id="rId4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1.xml"/><Relationship Id="rId7" Type="http://schemas.openxmlformats.org/officeDocument/2006/relationships/image" Target="../media/image17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4.xml"/><Relationship Id="rId7" Type="http://schemas.openxmlformats.org/officeDocument/2006/relationships/image" Target="../media/image1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17.xml"/><Relationship Id="rId7" Type="http://schemas.openxmlformats.org/officeDocument/2006/relationships/image" Target="../media/image2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8.bin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20.xml"/><Relationship Id="rId7" Type="http://schemas.openxmlformats.org/officeDocument/2006/relationships/image" Target="../media/image13.emf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oleObject" Target="../embeddings/oleObject9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5.png"/><Relationship Id="rId4" Type="http://schemas.openxmlformats.org/officeDocument/2006/relationships/tags" Target="../tags/tag21.xml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4.xml"/><Relationship Id="rId7" Type="http://schemas.openxmlformats.org/officeDocument/2006/relationships/image" Target="../media/image13.emf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oleObject" Target="../embeddings/oleObject10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8.png"/><Relationship Id="rId4" Type="http://schemas.openxmlformats.org/officeDocument/2006/relationships/tags" Target="../tags/tag25.xml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28.xml"/><Relationship Id="rId7" Type="http://schemas.openxmlformats.org/officeDocument/2006/relationships/image" Target="../media/image2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31.xml"/><Relationship Id="rId7" Type="http://schemas.openxmlformats.org/officeDocument/2006/relationships/image" Target="../media/image13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12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4" Type="http://schemas.openxmlformats.org/officeDocument/2006/relationships/tags" Target="../tags/tag32.xml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5.xml"/><Relationship Id="rId7" Type="http://schemas.openxmlformats.org/officeDocument/2006/relationships/image" Target="../media/image13.emf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oleObject" Target="../embeddings/oleObject13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6.png"/><Relationship Id="rId4" Type="http://schemas.openxmlformats.org/officeDocument/2006/relationships/tags" Target="../tags/tag36.xml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39.xml"/><Relationship Id="rId7" Type="http://schemas.openxmlformats.org/officeDocument/2006/relationships/image" Target="../media/image13.emf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oleObject" Target="../embeddings/oleObject14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43.xml"/><Relationship Id="rId7" Type="http://schemas.openxmlformats.org/officeDocument/2006/relationships/image" Target="../media/image13.emf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oleObject" Target="../embeddings/oleObject14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1.png"/><Relationship Id="rId4" Type="http://schemas.openxmlformats.org/officeDocument/2006/relationships/tags" Target="../tags/tag44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5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8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51.xml"/><Relationship Id="rId7" Type="http://schemas.openxmlformats.org/officeDocument/2006/relationships/image" Target="../media/image13.emf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oleObject" Target="../embeddings/oleObject18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54.xml"/><Relationship Id="rId7" Type="http://schemas.openxmlformats.org/officeDocument/2006/relationships/image" Target="../media/image44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8.bin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57.xml"/><Relationship Id="rId7" Type="http://schemas.openxmlformats.org/officeDocument/2006/relationships/image" Target="../media/image36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9.bin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60.xml"/><Relationship Id="rId7" Type="http://schemas.openxmlformats.org/officeDocument/2006/relationships/image" Target="../media/image13.emf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oleObject" Target="../embeddings/oleObject20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4" Type="http://schemas.openxmlformats.org/officeDocument/2006/relationships/tags" Target="../tags/tag61.xml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2.xml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50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51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6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13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34F7A-B937-97BD-3A7D-8E87EA4CCBA6}"/>
              </a:ext>
            </a:extLst>
          </p:cNvPr>
          <p:cNvSpPr txBox="1"/>
          <p:nvPr/>
        </p:nvSpPr>
        <p:spPr>
          <a:xfrm>
            <a:off x="3188677" y="3176954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4AFDD164-ACE6-2DA0-6780-C8EB1E64A30B}"/>
              </a:ext>
            </a:extLst>
          </p:cNvPr>
          <p:cNvSpPr txBox="1">
            <a:spLocks/>
          </p:cNvSpPr>
          <p:nvPr/>
        </p:nvSpPr>
        <p:spPr>
          <a:xfrm>
            <a:off x="0" y="5028431"/>
            <a:ext cx="6388443" cy="4803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Akhil Bhardwaj / Anuraag Dash</a:t>
            </a:r>
          </a:p>
          <a:p>
            <a:r>
              <a:rPr lang="en-US" dirty="0"/>
              <a:t>03 October at ISB.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6979E0-9C81-F9AD-58ED-09012F4686FD}"/>
              </a:ext>
            </a:extLst>
          </p:cNvPr>
          <p:cNvSpPr txBox="1">
            <a:spLocks/>
          </p:cNvSpPr>
          <p:nvPr/>
        </p:nvSpPr>
        <p:spPr>
          <a:xfrm>
            <a:off x="-18995" y="5508804"/>
            <a:ext cx="6407437" cy="114300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Using AI for PM Decks.</a:t>
            </a:r>
          </a:p>
        </p:txBody>
      </p:sp>
    </p:spTree>
    <p:extLst>
      <p:ext uri="{BB962C8B-B14F-4D97-AF65-F5344CB8AC3E}">
        <p14:creationId xmlns:p14="http://schemas.microsoft.com/office/powerpoint/2010/main" val="336448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CD5E-1639-CFD4-F3C0-9EBC38BC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B4A1DE9-C580-6160-5E17-A7E55A7DA2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93468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38D49C-C23E-0A50-FB1E-44C64B5E35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09C0F4D-DD4D-8F54-7AED-638DF1578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50847">
            <a:off x="7269047" y="747818"/>
            <a:ext cx="2346159" cy="35192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6BBE79-2393-6428-BDA4-487C4EB8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You’re interacting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5BF91-7AE8-DB5C-CDE1-1544765584B4}"/>
              </a:ext>
            </a:extLst>
          </p:cNvPr>
          <p:cNvSpPr/>
          <p:nvPr/>
        </p:nvSpPr>
        <p:spPr>
          <a:xfrm>
            <a:off x="8380914" y="3429000"/>
            <a:ext cx="3357562" cy="3065318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200" b="1" dirty="0">
                <a:solidFill>
                  <a:schemeClr val="tx1"/>
                </a:solidFill>
              </a:rPr>
              <a:t>		Anuraag</a:t>
            </a:r>
          </a:p>
          <a:p>
            <a:pPr algn="r"/>
            <a:r>
              <a:rPr lang="en-US" sz="1000" dirty="0">
                <a:solidFill>
                  <a:schemeClr val="tx1"/>
                </a:solidFill>
              </a:rPr>
              <a:t>(Sells </a:t>
            </a:r>
            <a:r>
              <a:rPr lang="en-US" sz="1000" dirty="0" err="1">
                <a:solidFill>
                  <a:schemeClr val="tx1"/>
                </a:solidFill>
              </a:rPr>
              <a:t>saabun</a:t>
            </a:r>
            <a:r>
              <a:rPr lang="en-US" sz="1000" dirty="0">
                <a:solidFill>
                  <a:schemeClr val="tx1"/>
                </a:solidFill>
              </a:rPr>
              <a:t> and Surf)</a:t>
            </a:r>
          </a:p>
          <a:p>
            <a:pPr algn="r"/>
            <a:r>
              <a:rPr lang="en-US" sz="1400" dirty="0">
                <a:solidFill>
                  <a:schemeClr val="tx1"/>
                </a:solidFill>
              </a:rPr>
              <a:t>Brand Manager, HUL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Before ISB: 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Managed a plant at Tata Steel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Built and managed communities at Reddit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At ISB: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ACED </a:t>
            </a:r>
            <a:r>
              <a:rPr lang="en-US" sz="1400" dirty="0" err="1">
                <a:solidFill>
                  <a:schemeClr val="tx1"/>
                </a:solidFill>
              </a:rPr>
              <a:t>acads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Started up </a:t>
            </a:r>
            <a:r>
              <a:rPr lang="en-US" sz="1400" dirty="0" err="1">
                <a:solidFill>
                  <a:schemeClr val="tx1"/>
                </a:solidFill>
              </a:rPr>
              <a:t>AxiomShift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1A613-9E4E-525F-0D45-A9F08466577F}"/>
              </a:ext>
            </a:extLst>
          </p:cNvPr>
          <p:cNvSpPr/>
          <p:nvPr/>
        </p:nvSpPr>
        <p:spPr>
          <a:xfrm>
            <a:off x="563629" y="5681093"/>
            <a:ext cx="8774906" cy="628650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Together, we…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Scaled </a:t>
            </a:r>
            <a:r>
              <a:rPr lang="en-US" sz="1400" dirty="0" err="1">
                <a:solidFill>
                  <a:schemeClr val="tx1"/>
                </a:solidFill>
              </a:rPr>
              <a:t>AxiomShift</a:t>
            </a:r>
            <a:r>
              <a:rPr lang="en-US" sz="1400" dirty="0">
                <a:solidFill>
                  <a:schemeClr val="tx1"/>
                </a:solidFill>
              </a:rPr>
              <a:t> together (before Claude Code wiped us out)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8+ years of combined experience in communicating our ideas through decks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EF451B-C157-30F6-6827-857296A12D95}"/>
              </a:ext>
            </a:extLst>
          </p:cNvPr>
          <p:cNvGrpSpPr/>
          <p:nvPr/>
        </p:nvGrpSpPr>
        <p:grpSpPr>
          <a:xfrm rot="21038179">
            <a:off x="1006160" y="1900173"/>
            <a:ext cx="2346159" cy="3519237"/>
            <a:chOff x="4106997" y="1787955"/>
            <a:chExt cx="2346159" cy="35192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ECA6A60-4792-113B-F5B5-043C445F7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06997" y="1787955"/>
              <a:ext cx="2346159" cy="351923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6B51C8-9729-99AA-36B3-71B50F78D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0373" t="26554" r="14892"/>
            <a:stretch>
              <a:fillRect/>
            </a:stretch>
          </p:blipFill>
          <p:spPr>
            <a:xfrm>
              <a:off x="4359563" y="2161308"/>
              <a:ext cx="1842119" cy="2456873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EA9504-FC6A-A7B6-D34C-8DF47FFA3AA5}"/>
              </a:ext>
            </a:extLst>
          </p:cNvPr>
          <p:cNvSpPr/>
          <p:nvPr/>
        </p:nvSpPr>
        <p:spPr>
          <a:xfrm>
            <a:off x="3601296" y="2497202"/>
            <a:ext cx="3357562" cy="3065318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</a:rPr>
              <a:t>Akhil</a:t>
            </a:r>
          </a:p>
          <a:p>
            <a:r>
              <a:rPr lang="en-US" sz="1000" dirty="0">
                <a:solidFill>
                  <a:schemeClr val="tx1"/>
                </a:solidFill>
              </a:rPr>
              <a:t>(Makes pretty slides)</a:t>
            </a:r>
          </a:p>
          <a:p>
            <a:r>
              <a:rPr lang="en-US" sz="1400" dirty="0">
                <a:solidFill>
                  <a:schemeClr val="tx1"/>
                </a:solidFill>
              </a:rPr>
              <a:t>AI Product Manager, BCG X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Before ISB: 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Created board games at his startup (UNBOX Games)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Private equity consulting at </a:t>
            </a:r>
            <a:r>
              <a:rPr lang="en-US" sz="1400" dirty="0" err="1">
                <a:solidFill>
                  <a:schemeClr val="tx1"/>
                </a:solidFill>
              </a:rPr>
              <a:t>Capitel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At ISB: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AI SIG, 3 case comp wins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Exhausting amounts of fun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Met Anuraag Dash.</a:t>
            </a:r>
          </a:p>
        </p:txBody>
      </p:sp>
    </p:spTree>
    <p:extLst>
      <p:ext uri="{BB962C8B-B14F-4D97-AF65-F5344CB8AC3E}">
        <p14:creationId xmlns:p14="http://schemas.microsoft.com/office/powerpoint/2010/main" val="180361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982265A-5DB7-0AAE-C75A-A86143FB5D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771291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0543-694B-83E1-1061-568023426B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This deck is not AI generated*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4EB9195-DA0A-E14E-1C3E-0CF89297F533}"/>
              </a:ext>
            </a:extLst>
          </p:cNvPr>
          <p:cNvSpPr txBox="1">
            <a:spLocks/>
          </p:cNvSpPr>
          <p:nvPr/>
        </p:nvSpPr>
        <p:spPr>
          <a:xfrm>
            <a:off x="539496" y="259492"/>
            <a:ext cx="11013670" cy="34598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*and that’s the crux of this presentation – how to rely on yourself.</a:t>
            </a:r>
          </a:p>
        </p:txBody>
      </p:sp>
    </p:spTree>
    <p:extLst>
      <p:ext uri="{BB962C8B-B14F-4D97-AF65-F5344CB8AC3E}">
        <p14:creationId xmlns:p14="http://schemas.microsoft.com/office/powerpoint/2010/main" val="322777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69EB296-EE14-7BA4-86CE-C87F3481C9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7564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488FAC2-A55C-862F-F002-1AD1DA1E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Two parts to a good deck…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9CCCE-B0B8-8540-246D-79180947D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18978"/>
            <a:ext cx="11013670" cy="445151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COMMUNICATING your idea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Communicating your IDEA</a:t>
            </a:r>
          </a:p>
        </p:txBody>
      </p:sp>
    </p:spTree>
    <p:extLst>
      <p:ext uri="{BB962C8B-B14F-4D97-AF65-F5344CB8AC3E}">
        <p14:creationId xmlns:p14="http://schemas.microsoft.com/office/powerpoint/2010/main" val="280399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03BD-EEB8-B274-36A1-5EA30EE6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C2EF22D-8BEB-0595-D2BE-EB1421985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4293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82265A-5DB7-0AAE-C75A-A86143FB5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CA55-91FE-3CB8-A9D2-1A010A988F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AI is good at neither without direction.</a:t>
            </a:r>
          </a:p>
        </p:txBody>
      </p:sp>
    </p:spTree>
    <p:extLst>
      <p:ext uri="{BB962C8B-B14F-4D97-AF65-F5344CB8AC3E}">
        <p14:creationId xmlns:p14="http://schemas.microsoft.com/office/powerpoint/2010/main" val="199786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0B10-926B-0396-A46C-C66F462D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1A9C9F1-D499-1674-04B7-44D65FF727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C411ED-6AE5-D746-BD18-160C8E1FF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1A80C82-B2DD-3B8B-AED7-901FCEE4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Communication = Design + Impact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881E1B-5D2C-84FF-5719-EAACE3523CA7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COMMUNICATING</a:t>
            </a:r>
            <a:r>
              <a:rPr lang="en-US" dirty="0"/>
              <a:t> your 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9C571-5E95-677B-CE8A-D9689273F8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074" y="1565404"/>
            <a:ext cx="7703920" cy="4371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FBD63D-DE9F-6C08-F456-EF56C6B192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045" y="1812961"/>
            <a:ext cx="7655521" cy="4363647"/>
          </a:xfrm>
          <a:prstGeom prst="rect">
            <a:avLst/>
          </a:prstGeom>
        </p:spPr>
      </p:pic>
      <p:sp>
        <p:nvSpPr>
          <p:cNvPr id="17" name="Textfeld 1">
            <a:extLst>
              <a:ext uri="{FF2B5EF4-FFF2-40B4-BE49-F238E27FC236}">
                <a16:creationId xmlns:a16="http://schemas.microsoft.com/office/drawing/2014/main" id="{186C85A1-777E-B922-2C50-B08E605494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812530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600" dirty="0">
                <a:sym typeface="Trebuchet MS" panose="020B0603020202020204" pitchFamily="34" charset="0"/>
              </a:rPr>
              <a:t>Embed solution in user experience to give a feel of the end product</a:t>
            </a:r>
          </a:p>
        </p:txBody>
      </p:sp>
      <p:sp>
        <p:nvSpPr>
          <p:cNvPr id="18" name="Textfeld 1">
            <a:extLst>
              <a:ext uri="{FF2B5EF4-FFF2-40B4-BE49-F238E27FC236}">
                <a16:creationId xmlns:a16="http://schemas.microsoft.com/office/drawing/2014/main" id="{144247F7-02AE-8CBF-AB3D-BC4B4D8841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566309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ym typeface="Trebuchet MS" panose="020B0603020202020204" pitchFamily="34" charset="0"/>
              </a:rPr>
              <a:t>Renders are easier than ever with AI</a:t>
            </a:r>
          </a:p>
        </p:txBody>
      </p:sp>
    </p:spTree>
    <p:extLst>
      <p:ext uri="{BB962C8B-B14F-4D97-AF65-F5344CB8AC3E}">
        <p14:creationId xmlns:p14="http://schemas.microsoft.com/office/powerpoint/2010/main" val="24848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1664-C781-8580-8FF2-4B34B37E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C411ED-6AE5-D746-BD18-160C8E1FF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43545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98D2B4-548D-CE2A-7B8C-BFB85F08A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FF0AFAF-590E-BF61-9E81-775417F2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Communication = Design + Impact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DF6721-32E0-063F-F046-A9A4AFACB26C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COMMUNICATING</a:t>
            </a:r>
            <a:r>
              <a:rPr lang="en-US" dirty="0"/>
              <a:t> your 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4A5CD-5BB9-BC2E-65A9-DDBF54F31F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4"/>
            <a:ext cx="7772400" cy="4371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7741F-F78A-4051-90A2-84731DB76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06" y="1812961"/>
            <a:ext cx="7772400" cy="4363647"/>
          </a:xfrm>
          <a:prstGeom prst="rect">
            <a:avLst/>
          </a:prstGeom>
        </p:spPr>
      </p:pic>
      <p:sp>
        <p:nvSpPr>
          <p:cNvPr id="17" name="Textfeld 1">
            <a:extLst>
              <a:ext uri="{FF2B5EF4-FFF2-40B4-BE49-F238E27FC236}">
                <a16:creationId xmlns:a16="http://schemas.microsoft.com/office/drawing/2014/main" id="{04512E59-BA08-D2C1-5BAD-DF7A9D4AAE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566309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dirty="0"/>
              <a:t>One photo, one line. That's the whole slide.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8" name="Textfeld 1">
            <a:extLst>
              <a:ext uri="{FF2B5EF4-FFF2-40B4-BE49-F238E27FC236}">
                <a16:creationId xmlns:a16="http://schemas.microsoft.com/office/drawing/2014/main" id="{3E9A6AA5-56B2-28FD-95D5-42C8BB9535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No "key takeaways". Just a line you'll actually remember.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pic>
        <p:nvPicPr>
          <p:cNvPr id="19" name="BackupStamp">
            <a:extLst>
              <a:ext uri="{FF2B5EF4-FFF2-40B4-BE49-F238E27FC236}">
                <a16:creationId xmlns:a16="http://schemas.microsoft.com/office/drawing/2014/main" id="{EBDA24E6-8C04-C510-5AD8-E4A3110389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9967" y="1582"/>
            <a:ext cx="1732066" cy="3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2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CFD0-1322-4FC1-077D-5F88FDEA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10F5529-4A5D-84C6-C4F8-682D08DAEF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22292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C411ED-6AE5-D746-BD18-160C8E1FF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DFD287B-F8BB-F58E-AE6F-997029D7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AI sucks at designing human slides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C8BA90-98C8-717F-29BB-A2291D1B7E3A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COMMUNICATING</a:t>
            </a:r>
            <a:r>
              <a:rPr lang="en-US" dirty="0"/>
              <a:t> your idea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E3CCFA-198D-E7AE-796C-B016A033EC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565404"/>
            <a:ext cx="7772400" cy="43719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755E30-E449-4E38-153B-59E9390BF2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38" y="1902288"/>
            <a:ext cx="7772400" cy="4371975"/>
          </a:xfrm>
          <a:prstGeom prst="rect">
            <a:avLst/>
          </a:prstGeom>
        </p:spPr>
      </p:pic>
      <p:sp>
        <p:nvSpPr>
          <p:cNvPr id="22" name="Textfeld 1">
            <a:extLst>
              <a:ext uri="{FF2B5EF4-FFF2-40B4-BE49-F238E27FC236}">
                <a16:creationId xmlns:a16="http://schemas.microsoft.com/office/drawing/2014/main" id="{483D5127-06DA-6112-BDA4-79036AB55A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Two boxes and a chevron. The template decided this, not me.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23" name="Textfeld 1">
            <a:extLst>
              <a:ext uri="{FF2B5EF4-FFF2-40B4-BE49-F238E27FC236}">
                <a16:creationId xmlns:a16="http://schemas.microsoft.com/office/drawing/2014/main" id="{4C8FF41D-EADE-8296-BA7B-E22E116E6A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Eight slides later, same chevron.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16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9EEC-67D9-1523-EEF9-4BA02D57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FD5DF7-BDA2-03BF-2F82-D0F57002A6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52423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F5529-4A5D-84C6-C4F8-682D08DAE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C05297C-772C-9121-0EAA-F70AC8A19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We bias our neural pathways early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4F5FD6-D3DE-3450-BFE8-C9AE42688404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COMMUNICATING</a:t>
            </a:r>
            <a:r>
              <a:rPr lang="en-US" dirty="0"/>
              <a:t> your 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08E2F-7251-1FD4-0387-0D40C18FC5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4"/>
            <a:ext cx="7772400" cy="437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DB8651-A25E-1FE0-BBDC-9336369A4E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98" y="1770414"/>
            <a:ext cx="7772400" cy="4371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1134CB-5480-356E-90CA-07A0A35D86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62" y="1975424"/>
            <a:ext cx="7772400" cy="4371975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D1F88979-CA76-0DCC-FE0A-25C8B85D59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Slide 4. I picked this layout once.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4B48FA73-1574-FD3A-708E-EAB5914083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Slide 7. Still the same layout.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C92E46CE-C53C-219D-4F12-E569AA9B607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Slide 11. I wasn't designing anymore, I was filling boxes.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6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B4E2-8BEB-BC09-35B4-48D98A9B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7ECF106-3884-D606-DEDC-787B6B521E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8367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FD5DF7-BDA2-03BF-2F82-D0F57002A6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ECA978E-6B4E-29F2-E4CC-1CC0B02F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Intuitive slide design always wins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6F42C0-DB60-E91A-7F67-18F65BFA0AF9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COMMUNICATING</a:t>
            </a:r>
            <a:r>
              <a:rPr lang="en-US" dirty="0"/>
              <a:t> your 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FFE8E-1B0C-19D7-5EDF-A001000406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4"/>
            <a:ext cx="7772400" cy="437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59720-73A8-DCA5-36F1-DF0E9AF218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10" y="1770414"/>
            <a:ext cx="7772400" cy="4371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650B90-AF8D-C3D8-2784-CB9D1DA3B2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522" y="1975424"/>
            <a:ext cx="7720927" cy="4371975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B146068A-0A6D-ECA5-A07E-2B1320D8A5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You read the whole journey without reading a word.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95A796A1-2593-12DF-622B-71F58E4813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Show the screen. Point at it. No paragraph needed.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A4A6CB59-1F3F-E063-89F9-F3E0952D90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Four kinds of proof on one page and it still breathes.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7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C941-03EB-10C9-A310-493CA26A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98D2B4-548D-CE2A-7B8C-BFB85F08A0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02994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EB296-EE14-7BA4-86CE-C87F3481C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D1AEB1B-FDC2-A45F-2690-6D4420AA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Idea = Content + Tone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55B802-969C-6D2E-C528-E7AB5EADE85D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Communicating your </a:t>
            </a:r>
            <a:r>
              <a:rPr lang="en-US" b="1" dirty="0"/>
              <a:t>IDEA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F2AFE-7AFA-B9DA-C2EC-77E1F8EB13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1693507"/>
            <a:ext cx="7772400" cy="4354501"/>
          </a:xfrm>
          <a:prstGeom prst="rect">
            <a:avLst/>
          </a:prstGeom>
        </p:spPr>
      </p:pic>
      <p:sp>
        <p:nvSpPr>
          <p:cNvPr id="8" name="Textfeld 1">
            <a:extLst>
              <a:ext uri="{FF2B5EF4-FFF2-40B4-BE49-F238E27FC236}">
                <a16:creationId xmlns:a16="http://schemas.microsoft.com/office/drawing/2014/main" id="{60B1D19A-234B-09A5-7AA5-4D19561E54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Designed like the user would experience it.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9A5ED-FC91-5A4B-F4E7-AA79D1F2CD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7" y="2023930"/>
            <a:ext cx="7772400" cy="4314475"/>
          </a:xfrm>
          <a:prstGeom prst="rect">
            <a:avLst/>
          </a:prstGeom>
        </p:spPr>
      </p:pic>
      <p:sp>
        <p:nvSpPr>
          <p:cNvPr id="10" name="Textfeld 1">
            <a:extLst>
              <a:ext uri="{FF2B5EF4-FFF2-40B4-BE49-F238E27FC236}">
                <a16:creationId xmlns:a16="http://schemas.microsoft.com/office/drawing/2014/main" id="{C5CEAF6F-BEF0-84DD-385D-376699376B4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556825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Written like Netflix would write it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2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8C4B-115E-62E8-15E5-6BA57130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5EEB9F1-6EA7-4F7B-C17D-E65E93805F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69053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98D2B4-548D-CE2A-7B8C-BFB85F08A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1F25FDD-48F5-761C-F3BD-10C43644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AI slop is easier to detect than ever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82D149-282E-80FC-31FE-F83B4DBD2187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Communicating your </a:t>
            </a:r>
            <a:r>
              <a:rPr lang="en-US" b="1" dirty="0"/>
              <a:t>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3A682-F2C5-1B9B-FA46-D47F7479C2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6"/>
            <a:ext cx="3009115" cy="4258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7FB86D-1890-ACFB-A096-24059E7003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703" y="1565404"/>
            <a:ext cx="3009115" cy="425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D06849-09BB-8058-4909-7CC2F8C036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573" y="1565404"/>
            <a:ext cx="3009115" cy="4258277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F9483F4A-F24E-F4BC-423A-A1088C60EB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5769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Description, key features, pain points, competitive landscape.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648075BC-BCA0-867C-34DD-46F5676D12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947006" y="511851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Same four headers. Again.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66B977D3-5186-8B96-2DF3-D2F3FF4BA8E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548243" y="511851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Five times. That rhythm gives it away.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1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CA41-52B7-7BDF-C2D8-70940DDC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D4D5028-9432-B7B2-D427-A072EE8B9E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25362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EEB9F1-6EA7-4F7B-C17D-E65E93805F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9C4D44A-F398-E2F6-16FF-1E20BD99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AI can’t think in first principles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6CE763-AE35-2499-C3FF-AD5B47FAAF2E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Communicating your </a:t>
            </a:r>
            <a:r>
              <a:rPr lang="en-US" b="1" dirty="0"/>
              <a:t>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59FAB-4278-1260-1C3D-3C0FFC4657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565404"/>
            <a:ext cx="3310027" cy="4684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06950-E932-7F38-DEFC-9BF976AEC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4" y="1920107"/>
            <a:ext cx="3310027" cy="4684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435B5C-0E2C-067D-9F08-AC3F531325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2334734"/>
            <a:ext cx="7772400" cy="4371975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8CAC5F1F-7490-7D4B-72DE-7BB8054EBE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A whiteboard and five interviews. No model starts here.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8010FD98-46CC-71FE-C0FA-EBA70EDFAB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Claims are misrouted, not slow. That reframe was the crux.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F5E60A55-EC20-6BC0-5328-C90A373815F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15 pain points. We asked people, we didn't prompt (or did we?)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29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75FC-A7D6-386B-ACF5-CA55459C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A1A921E-8FA9-1860-1FFA-9B4851FB52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00865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4D5028-9432-B7B2-D427-A072EE8B9E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55F518-D2E9-DC3F-1094-6F3CDEAD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AI is amazing at filling in the blanks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9B0659-05C2-58C1-A300-5D52AD73FAF1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Communicating your </a:t>
            </a:r>
            <a:r>
              <a:rPr lang="en-US" b="1" dirty="0"/>
              <a:t>IDEA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AE2E0-5959-C88B-5784-B74135A145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34" y="1577470"/>
            <a:ext cx="7772400" cy="4347843"/>
          </a:xfrm>
          <a:prstGeom prst="rect">
            <a:avLst/>
          </a:prstGeom>
        </p:spPr>
      </p:pic>
      <p:sp>
        <p:nvSpPr>
          <p:cNvPr id="12" name="Textfeld 1">
            <a:extLst>
              <a:ext uri="{FF2B5EF4-FFF2-40B4-BE49-F238E27FC236}">
                <a16:creationId xmlns:a16="http://schemas.microsoft.com/office/drawing/2014/main" id="{A4A73953-CD8A-C36D-207C-D3C38915BD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We knew the horizontal, but not the vertical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539AE0E2-EE79-D9D0-BD54-D914F8C6E55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429000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AI checked we hadn't missed anything under them.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4" name="Textfeld 1">
            <a:extLst>
              <a:ext uri="{FF2B5EF4-FFF2-40B4-BE49-F238E27FC236}">
                <a16:creationId xmlns:a16="http://schemas.microsoft.com/office/drawing/2014/main" id="{B1A487DF-2FAC-6264-37FE-A85495C329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That's the division of labour.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887607-31CF-5470-621E-9C613538F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606" y="1896319"/>
            <a:ext cx="7772400" cy="435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3507-D3FC-43D3-1DEE-AA0609B1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DE9F5E8-117E-CC8B-64F0-089BE16B8E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1A921E-8FA9-1860-1FFA-9B4851FB5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230FCB8-E581-7263-C63D-D6ED18367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AI is amazing at filling in the blanks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9FD3CB-FE1C-27ED-914C-4267F2833DBF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Communicating your </a:t>
            </a:r>
            <a:r>
              <a:rPr lang="en-US" b="1" dirty="0"/>
              <a:t>IDEA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A8467-A465-AB49-4DA1-16E23B66B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565404"/>
            <a:ext cx="7772400" cy="437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1A5E7-EF64-D0E3-FA3D-A66EA9524E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96" y="1990300"/>
            <a:ext cx="7772400" cy="4371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6347C0-0491-8FF0-C9F6-09C69E0EE5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296" y="2415197"/>
            <a:ext cx="7772400" cy="4371975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3E970237-C979-E2DD-9E45-9EAC3F1233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Merchant, platform, customer.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6C809BF1-1F92-A9C7-6F76-10EBB367C62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Same structure each time.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Textfeld 1">
            <a:extLst>
              <a:ext uri="{FF2B5EF4-FFF2-40B4-BE49-F238E27FC236}">
                <a16:creationId xmlns:a16="http://schemas.microsoft.com/office/drawing/2014/main" id="{FB214652-FE37-573D-8EDE-69AD336570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Nothing dropped. This is the job AI is actually good at.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76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D13C7-919F-34A9-E4BF-FB4CC754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FABF0-E7A7-A93D-15B5-133542ACDB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03200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EF22D-8BEB-0595-D2BE-EB1421985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F65B-F916-7027-74EA-4F15530AFF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Winning with AI is a function of intent.</a:t>
            </a:r>
          </a:p>
        </p:txBody>
      </p:sp>
    </p:spTree>
    <p:extLst>
      <p:ext uri="{BB962C8B-B14F-4D97-AF65-F5344CB8AC3E}">
        <p14:creationId xmlns:p14="http://schemas.microsoft.com/office/powerpoint/2010/main" val="1688435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3ECB-C15D-63E3-AD29-C0D8D2EF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CE2F25A-E178-1CBC-17FF-DFD2B20BE6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432277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EB296-EE14-7BA4-86CE-C87F3481C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E5878F-0BF6-75E1-B794-C7F8A2BD6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/>
          </a:bodyPr>
          <a:lstStyle/>
          <a:p>
            <a:r>
              <a:rPr lang="en-US" dirty="0"/>
              <a:t>Your decks won’t pass if you…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C039-64A6-7BF0-B085-81ED23F8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18978"/>
            <a:ext cx="5465888" cy="4451514"/>
          </a:xfrm>
        </p:spPr>
        <p:txBody>
          <a:bodyPr/>
          <a:lstStyle/>
          <a:p>
            <a:pPr algn="r"/>
            <a:r>
              <a:rPr lang="en-US" dirty="0"/>
              <a:t>Create a first draft with AI …</a:t>
            </a:r>
          </a:p>
          <a:p>
            <a:pPr algn="r"/>
            <a:r>
              <a:rPr lang="en-US" dirty="0"/>
              <a:t>Run the most detailed deep research to begin with …</a:t>
            </a:r>
          </a:p>
          <a:p>
            <a:pPr algn="r"/>
            <a:r>
              <a:rPr lang="en-US" dirty="0"/>
              <a:t>Use Claude Design, Gamma etc. to design your slides 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6F88A1-D3A2-0637-090A-4AE2BEDB959C}"/>
              </a:ext>
            </a:extLst>
          </p:cNvPr>
          <p:cNvSpPr txBox="1">
            <a:spLocks/>
          </p:cNvSpPr>
          <p:nvPr/>
        </p:nvSpPr>
        <p:spPr>
          <a:xfrm>
            <a:off x="6186618" y="1818978"/>
            <a:ext cx="5465888" cy="4451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… because you’ll bias your thought process</a:t>
            </a:r>
          </a:p>
          <a:p>
            <a:r>
              <a:rPr lang="en-US" dirty="0"/>
              <a:t>… because you’ll solve for data and not logic</a:t>
            </a:r>
          </a:p>
          <a:p>
            <a:r>
              <a:rPr lang="en-US" dirty="0"/>
              <a:t>… because they follow unintuitive, non-human design languages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FFB19F-8366-3C93-8475-5A2108A5C1AA}"/>
              </a:ext>
            </a:extLst>
          </p:cNvPr>
          <p:cNvSpPr txBox="1">
            <a:spLocks/>
          </p:cNvSpPr>
          <p:nvPr/>
        </p:nvSpPr>
        <p:spPr>
          <a:xfrm>
            <a:off x="403814" y="2894521"/>
            <a:ext cx="11013670" cy="417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Instant Gratification           Overvalued Slop</a:t>
            </a:r>
          </a:p>
        </p:txBody>
      </p:sp>
    </p:spTree>
    <p:extLst>
      <p:ext uri="{BB962C8B-B14F-4D97-AF65-F5344CB8AC3E}">
        <p14:creationId xmlns:p14="http://schemas.microsoft.com/office/powerpoint/2010/main" val="76496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64F0-EF87-5D84-60CC-EAA1A3D2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44F957-02DF-8DB5-7A67-9DABBA545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58003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E2F25A-E178-1CBC-17FF-DFD2B20BE6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DA64882-97F5-227D-435F-BFE60AF1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… but if you leverage your two brains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69F7-C1B8-857E-FC56-546D3266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18978"/>
            <a:ext cx="5465888" cy="4451514"/>
          </a:xfrm>
        </p:spPr>
        <p:txBody>
          <a:bodyPr/>
          <a:lstStyle/>
          <a:p>
            <a:pPr algn="r"/>
            <a:r>
              <a:rPr lang="en-US" dirty="0"/>
              <a:t>Manually brainstorm unique solutions …</a:t>
            </a:r>
          </a:p>
          <a:p>
            <a:pPr algn="r"/>
            <a:r>
              <a:rPr lang="en-US" dirty="0"/>
              <a:t>Don’t think in answers, but pain points …</a:t>
            </a:r>
          </a:p>
          <a:p>
            <a:pPr algn="r"/>
            <a:r>
              <a:rPr lang="en-US" dirty="0"/>
              <a:t>Create an intuitive storyline and slide flow …</a:t>
            </a:r>
          </a:p>
          <a:p>
            <a:pPr algn="r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3D6DC5-7938-75A8-420B-536C33B98E7A}"/>
              </a:ext>
            </a:extLst>
          </p:cNvPr>
          <p:cNvSpPr txBox="1">
            <a:spLocks/>
          </p:cNvSpPr>
          <p:nvPr/>
        </p:nvSpPr>
        <p:spPr>
          <a:xfrm>
            <a:off x="6186618" y="1818978"/>
            <a:ext cx="5465888" cy="4451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… and validate your logic with AI</a:t>
            </a:r>
          </a:p>
          <a:p>
            <a:r>
              <a:rPr lang="en-US" dirty="0"/>
              <a:t>… and use Claude to expand the list for misses</a:t>
            </a:r>
          </a:p>
          <a:p>
            <a:r>
              <a:rPr lang="en-US" dirty="0"/>
              <a:t>… and ask Gemini to point out visual improvements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7A990-59F7-98DA-60AC-539C951CA604}"/>
              </a:ext>
            </a:extLst>
          </p:cNvPr>
          <p:cNvSpPr txBox="1">
            <a:spLocks/>
          </p:cNvSpPr>
          <p:nvPr/>
        </p:nvSpPr>
        <p:spPr>
          <a:xfrm>
            <a:off x="1034008" y="2919234"/>
            <a:ext cx="11013670" cy="417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Uniquely Creative               Expanded and Validated</a:t>
            </a:r>
          </a:p>
        </p:txBody>
      </p:sp>
    </p:spTree>
    <p:extLst>
      <p:ext uri="{BB962C8B-B14F-4D97-AF65-F5344CB8AC3E}">
        <p14:creationId xmlns:p14="http://schemas.microsoft.com/office/powerpoint/2010/main" val="55874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8CBF-401D-EEFD-4485-00DB235E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3CA0AE-FEFF-CBB4-5409-EBC8C137BC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EF22D-8BEB-0595-D2BE-EB1421985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BB91-5760-7C8B-31FF-29947AB77F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Think of the narrative, the flow, then the content</a:t>
            </a:r>
          </a:p>
        </p:txBody>
      </p:sp>
    </p:spTree>
    <p:extLst>
      <p:ext uri="{BB962C8B-B14F-4D97-AF65-F5344CB8AC3E}">
        <p14:creationId xmlns:p14="http://schemas.microsoft.com/office/powerpoint/2010/main" val="2201192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0A25-7477-1A26-0636-3F282C6D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61ED37-3A4D-E14D-6BD2-66B4E3492D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6EC25-5405-1CAD-8D09-8032A98901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3D877C6-F170-E6DE-EF28-36B7DA08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Narratives are about selling a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38CBC0-905D-99D1-035F-D24D78C756B9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Bias the reader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17286-9EE7-1C66-4015-582AC5B005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34" y="1610016"/>
            <a:ext cx="7772400" cy="42827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54D22D-9D0B-AEA5-F0A9-182AE74E6D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560" y="2245452"/>
            <a:ext cx="7772400" cy="4345544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51C5A181-D581-04B5-F328-B64100903F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Bias the reader to our ideal state prototype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0A455B2D-D523-EBA0-76D8-8EA24023B0A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4418224"/>
            <a:ext cx="2743200" cy="1058751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>
                <a:sym typeface="Trebuchet MS" panose="020B0603020202020204" pitchFamily="34" charset="0"/>
              </a:rPr>
              <a:t>Tune into yourself.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>
                <a:sym typeface="Trebuchet MS" panose="020B0603020202020204" pitchFamily="34" charset="0"/>
              </a:rPr>
              <a:t>How? Musical therapy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>
                <a:sym typeface="Trebuchet MS" panose="020B0603020202020204" pitchFamily="34" charset="0"/>
              </a:rPr>
              <a:t>Positioning? Chill guy</a:t>
            </a:r>
            <a:endParaRPr lang="en-US" dirty="0"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85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C982-4C77-B339-7CD6-E541193B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C26EC25-5405-1CAD-8D09-8032A98901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75055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FD5DF7-BDA2-03BF-2F82-D0F57002A6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6BCF9C1-DF63-80AA-A472-1CBD0F2C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Narratives are about selling a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4D66D7-83CB-C136-743E-07FA31311CBA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Bias the reader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955D2-D4C1-24A7-9C7E-BBA9E09F0A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4"/>
            <a:ext cx="7772400" cy="4371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28A28C-85D3-DA74-F4D5-BAFE7A55E8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2232237"/>
            <a:ext cx="7772400" cy="4371975"/>
          </a:xfrm>
          <a:prstGeom prst="rect">
            <a:avLst/>
          </a:prstGeom>
        </p:spPr>
      </p:pic>
      <p:sp>
        <p:nvSpPr>
          <p:cNvPr id="11" name="Textfeld 1">
            <a:extLst>
              <a:ext uri="{FF2B5EF4-FFF2-40B4-BE49-F238E27FC236}">
                <a16:creationId xmlns:a16="http://schemas.microsoft.com/office/drawing/2014/main" id="{AA3224F0-2224-E134-DE64-DA1635919C8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1181862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Three options. One's in a box. You've already chosen. Now you tell why.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Textfeld 1">
            <a:extLst>
              <a:ext uri="{FF2B5EF4-FFF2-40B4-BE49-F238E27FC236}">
                <a16:creationId xmlns:a16="http://schemas.microsoft.com/office/drawing/2014/main" id="{E5D5B981-2A2B-8E45-B6A9-CBC5D390EC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4418224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Problem and answer on slide two. Everything after is </a:t>
            </a:r>
            <a:r>
              <a:rPr lang="en-IN" b="1" dirty="0"/>
              <a:t>support</a:t>
            </a:r>
            <a:r>
              <a:rPr lang="en-IN" dirty="0"/>
              <a:t>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57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98BF-51F2-6DE0-2C0A-0664E5A8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D064B9E-903D-15BE-98CA-CC841B5816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9387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6EC25-5405-1CAD-8D09-8032A98901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EF86B3-D541-C8AC-45E5-89C080BCE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Arrange information to fit the narrative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48242A-DC89-98B2-AA3D-3FD9DF7AD9F3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Tell a 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473C8-E3E9-4497-5A91-821F1A945F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565404"/>
            <a:ext cx="7772400" cy="4371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93E99-BB0D-1B19-75AA-0FB4F361BE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03" y="2077931"/>
            <a:ext cx="7772400" cy="4371975"/>
          </a:xfrm>
          <a:prstGeom prst="rect">
            <a:avLst/>
          </a:prstGeom>
        </p:spPr>
      </p:pic>
      <p:sp>
        <p:nvSpPr>
          <p:cNvPr id="10" name="Textfeld 1">
            <a:extLst>
              <a:ext uri="{FF2B5EF4-FFF2-40B4-BE49-F238E27FC236}">
                <a16:creationId xmlns:a16="http://schemas.microsoft.com/office/drawing/2014/main" id="{152FFA12-C8FF-5BC0-AC2E-2F5296B3C5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Same grid, pains in yellow. Now the problem has a shape.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Textfeld 1">
            <a:extLst>
              <a:ext uri="{FF2B5EF4-FFF2-40B4-BE49-F238E27FC236}">
                <a16:creationId xmlns:a16="http://schemas.microsoft.com/office/drawing/2014/main" id="{5D15DFB4-C8F5-A8F4-878D-BA7641A80D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4418224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Same grid, yellow gone. We never explain it twice.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9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1DA1-B5C4-EFFA-4461-9AAD0544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A4B0BEC-2C37-6816-AB90-E4794D7F84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46527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064B9E-903D-15BE-98CA-CC841B581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B3534A-FC84-5A4C-A6FA-3034E4C3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Good content solidifies your storytelling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0EF0F1-BD5A-BF7C-1427-A68EB839F7EC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1013670" cy="33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Drive conviction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00B4EC-2497-B273-BB3C-9D047B7B98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1565404"/>
            <a:ext cx="7772400" cy="43719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6E951A-0064-6224-6385-A0FA9829F5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66" y="1772765"/>
            <a:ext cx="7772400" cy="43719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C0BA25-AFA6-DCC0-80F4-AB3111D073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98" y="1980126"/>
            <a:ext cx="7772400" cy="4371975"/>
          </a:xfrm>
          <a:prstGeom prst="rect">
            <a:avLst/>
          </a:prstGeom>
        </p:spPr>
      </p:pic>
      <p:sp>
        <p:nvSpPr>
          <p:cNvPr id="27" name="Textfeld 1">
            <a:extLst>
              <a:ext uri="{FF2B5EF4-FFF2-40B4-BE49-F238E27FC236}">
                <a16:creationId xmlns:a16="http://schemas.microsoft.com/office/drawing/2014/main" id="{AD9CD7A2-F3BD-14CA-5497-F5A04E7C68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00778" y="220718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4.65 against 3.15. Now it isn't an opinion.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28" name="Textfeld 1">
            <a:extLst>
              <a:ext uri="{FF2B5EF4-FFF2-40B4-BE49-F238E27FC236}">
                <a16:creationId xmlns:a16="http://schemas.microsoft.com/office/drawing/2014/main" id="{2D19A300-B466-86DF-E667-299859F1F8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900778" y="3801351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$5.76B, sized three ways. Hard to argue with it now.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  <p:sp>
        <p:nvSpPr>
          <p:cNvPr id="29" name="Textfeld 1">
            <a:extLst>
              <a:ext uri="{FF2B5EF4-FFF2-40B4-BE49-F238E27FC236}">
                <a16:creationId xmlns:a16="http://schemas.microsoft.com/office/drawing/2014/main" id="{369DF34E-D369-40D2-DF28-A6ED6C0E11E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900778" y="5118517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North star, primary, guardrail. We thought about being wrong.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34E1-99F7-8CCB-79D5-61D2008C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9CBF84-B72A-0E35-9549-0F365A50E2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3CA0AE-FEFF-CBB4-5409-EBC8C137BC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F40AF-D603-DB15-8193-F9632D4A26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Slide-making has a few non-negotiables</a:t>
            </a:r>
          </a:p>
        </p:txBody>
      </p:sp>
    </p:spTree>
    <p:extLst>
      <p:ext uri="{BB962C8B-B14F-4D97-AF65-F5344CB8AC3E}">
        <p14:creationId xmlns:p14="http://schemas.microsoft.com/office/powerpoint/2010/main" val="3759665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3FA-736A-E8D8-E1D5-EFE1EDA4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3544FE-E384-2FAF-B4F8-EF90B2E979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86097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4F957-02DF-8DB5-7A67-9DABBA545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4F97B9-B418-7888-0510-CFCFAC68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If I only read this line, I’d get the point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4E1452A-27C0-D10D-AA35-908AC30AC52A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017842" cy="260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Section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216078A-65BC-989C-C865-E3BECB2AC6DE}"/>
              </a:ext>
            </a:extLst>
          </p:cNvPr>
          <p:cNvSpPr txBox="1">
            <a:spLocks/>
          </p:cNvSpPr>
          <p:nvPr/>
        </p:nvSpPr>
        <p:spPr>
          <a:xfrm>
            <a:off x="1557338" y="253788"/>
            <a:ext cx="1017842" cy="260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Section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BFFEB42-F07A-699E-4B75-5EC666C30B83}"/>
              </a:ext>
            </a:extLst>
          </p:cNvPr>
          <p:cNvSpPr txBox="1">
            <a:spLocks/>
          </p:cNvSpPr>
          <p:nvPr/>
        </p:nvSpPr>
        <p:spPr>
          <a:xfrm>
            <a:off x="2575180" y="253788"/>
            <a:ext cx="1017842" cy="260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Section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23CD9D-6231-EFF4-650E-ECE3F5F00E2E}"/>
              </a:ext>
            </a:extLst>
          </p:cNvPr>
          <p:cNvSpPr txBox="1">
            <a:spLocks/>
          </p:cNvSpPr>
          <p:nvPr/>
        </p:nvSpPr>
        <p:spPr>
          <a:xfrm>
            <a:off x="3593022" y="253788"/>
            <a:ext cx="1017842" cy="260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2E02AA5-CD17-482A-014E-4814EABB1B28}"/>
              </a:ext>
            </a:extLst>
          </p:cNvPr>
          <p:cNvSpPr/>
          <p:nvPr/>
        </p:nvSpPr>
        <p:spPr>
          <a:xfrm>
            <a:off x="2575180" y="2214563"/>
            <a:ext cx="9144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5757"/>
                </a:solidFill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CFB4E82-A0EF-191B-EB24-E70EFA00EDE1}"/>
              </a:ext>
            </a:extLst>
          </p:cNvPr>
          <p:cNvSpPr/>
          <p:nvPr/>
        </p:nvSpPr>
        <p:spPr>
          <a:xfrm>
            <a:off x="8702420" y="2214563"/>
            <a:ext cx="9144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5757"/>
                </a:solidFill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F61664F-4289-D5FB-7B60-1CA9580547FD}"/>
              </a:ext>
            </a:extLst>
          </p:cNvPr>
          <p:cNvSpPr/>
          <p:nvPr/>
        </p:nvSpPr>
        <p:spPr>
          <a:xfrm>
            <a:off x="2575180" y="4852988"/>
            <a:ext cx="9144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5757"/>
                </a:solidFill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5D283C1-33ED-E510-4BC4-632A2A193FEF}"/>
              </a:ext>
            </a:extLst>
          </p:cNvPr>
          <p:cNvSpPr/>
          <p:nvPr/>
        </p:nvSpPr>
        <p:spPr>
          <a:xfrm>
            <a:off x="8702420" y="4852988"/>
            <a:ext cx="9144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5757"/>
                </a:solidFill>
              </a:rPr>
              <a:t>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47BE70-A6EF-73D3-464A-79B29BA7040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489580" y="2671763"/>
            <a:ext cx="521284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8D69A0-E6A7-3D1D-99FA-9E0A5BE1A831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3032380" y="3128963"/>
            <a:ext cx="6127240" cy="17240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7B2C67-6467-E506-14C4-60C2811EC9B8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3489580" y="5310188"/>
            <a:ext cx="521284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2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28AD-8966-2964-14CA-01D2294F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A48EC5A-54DA-F18D-71A8-51504BFF12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38141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3544FE-E384-2FAF-B4F8-EF90B2E97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7E8F50E-DD93-79C3-EA07-D9A8700FB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B6F6F5B1-8CEE-DB63-D01C-0C9230BD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  <a:solidFill>
            <a:schemeClr val="bg1">
              <a:lumMod val="95000"/>
            </a:schemeClr>
          </a:solidFill>
        </p:spPr>
        <p:txBody>
          <a:bodyPr vert="horz"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If I only read this line, I’d get the point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268F3A50-73F9-3C88-4245-7DC69B9CBAAD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54882A92-3C26-EB7D-0E7F-B896428A8E83}"/>
              </a:ext>
            </a:extLst>
          </p:cNvPr>
          <p:cNvSpPr txBox="1">
            <a:spLocks/>
          </p:cNvSpPr>
          <p:nvPr/>
        </p:nvSpPr>
        <p:spPr>
          <a:xfrm>
            <a:off x="1557338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F0FDAAD4-2CFD-B961-6192-9E875BC76F9B}"/>
              </a:ext>
            </a:extLst>
          </p:cNvPr>
          <p:cNvSpPr txBox="1">
            <a:spLocks/>
          </p:cNvSpPr>
          <p:nvPr/>
        </p:nvSpPr>
        <p:spPr>
          <a:xfrm>
            <a:off x="2575180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BCCE04EE-8912-9C66-BCE9-E9DB5581B98B}"/>
              </a:ext>
            </a:extLst>
          </p:cNvPr>
          <p:cNvSpPr txBox="1">
            <a:spLocks/>
          </p:cNvSpPr>
          <p:nvPr/>
        </p:nvSpPr>
        <p:spPr>
          <a:xfrm>
            <a:off x="3593022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9EDDE47-01D9-28B7-4A98-BB2EEC27813E}"/>
              </a:ext>
            </a:extLst>
          </p:cNvPr>
          <p:cNvSpPr/>
          <p:nvPr/>
        </p:nvSpPr>
        <p:spPr>
          <a:xfrm>
            <a:off x="257518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95E3EC4-72A7-B495-6A87-B8BB61BF827F}"/>
              </a:ext>
            </a:extLst>
          </p:cNvPr>
          <p:cNvSpPr/>
          <p:nvPr/>
        </p:nvSpPr>
        <p:spPr>
          <a:xfrm>
            <a:off x="870242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F644E1E-C579-BC2A-8139-CD3174DC4977}"/>
              </a:ext>
            </a:extLst>
          </p:cNvPr>
          <p:cNvSpPr/>
          <p:nvPr/>
        </p:nvSpPr>
        <p:spPr>
          <a:xfrm>
            <a:off x="257518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14027DE-DA39-F96B-0B2B-E65937F058D3}"/>
              </a:ext>
            </a:extLst>
          </p:cNvPr>
          <p:cNvSpPr/>
          <p:nvPr/>
        </p:nvSpPr>
        <p:spPr>
          <a:xfrm>
            <a:off x="870242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676939-F824-349A-9901-96257F592039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489580" y="2671763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C875742-C06F-087B-F6AD-20E1D838997C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 flipH="1">
            <a:off x="3032380" y="3128963"/>
            <a:ext cx="6127240" cy="17240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48DCE23-E1F2-0D8F-207D-ED2838EA2A5C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3489580" y="5310188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1">
            <a:extLst>
              <a:ext uri="{FF2B5EF4-FFF2-40B4-BE49-F238E27FC236}">
                <a16:creationId xmlns:a16="http://schemas.microsoft.com/office/drawing/2014/main" id="{DE4ACEDC-74F9-2DBF-E76D-9B17E4FE66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809966" y="376237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Nav on top, action title below. You always know where you are.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04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63" grpId="0" animBg="1"/>
      <p:bldP spid="6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54A1-028C-8A22-57D4-5EF7A4F4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7A1F3FF-9257-86DA-FB07-D5A2A09C75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44976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48EC5A-54DA-F18D-71A8-51504BFF12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F772B6D-C29A-6069-CA5C-11540B6700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0903834F-9B94-70F4-85D4-838227B2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  <a:solidFill>
            <a:schemeClr val="bg1">
              <a:lumMod val="95000"/>
            </a:schemeClr>
          </a:solidFill>
        </p:spPr>
        <p:txBody>
          <a:bodyPr vert="horz"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If I only read this line, I’d get the point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E85CD76-6868-655D-1868-DAAF32F6AE80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69E3B93-4F11-0B56-7E8E-E5818B555FEA}"/>
              </a:ext>
            </a:extLst>
          </p:cNvPr>
          <p:cNvSpPr txBox="1">
            <a:spLocks/>
          </p:cNvSpPr>
          <p:nvPr/>
        </p:nvSpPr>
        <p:spPr>
          <a:xfrm>
            <a:off x="1557338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F1B4DADF-D7B2-2B9A-A5EB-B1D328339454}"/>
              </a:ext>
            </a:extLst>
          </p:cNvPr>
          <p:cNvSpPr txBox="1">
            <a:spLocks/>
          </p:cNvSpPr>
          <p:nvPr/>
        </p:nvSpPr>
        <p:spPr>
          <a:xfrm>
            <a:off x="2575180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5B94B33C-AE3C-8029-E19C-6DDF135F8814}"/>
              </a:ext>
            </a:extLst>
          </p:cNvPr>
          <p:cNvSpPr txBox="1">
            <a:spLocks/>
          </p:cNvSpPr>
          <p:nvPr/>
        </p:nvSpPr>
        <p:spPr>
          <a:xfrm>
            <a:off x="3593022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9BB2A6B-8A6E-E319-AF0C-1CBE8883645D}"/>
              </a:ext>
            </a:extLst>
          </p:cNvPr>
          <p:cNvSpPr/>
          <p:nvPr/>
        </p:nvSpPr>
        <p:spPr>
          <a:xfrm>
            <a:off x="257518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8B0CBAD-FCD4-7C89-B55C-44B231A427C7}"/>
              </a:ext>
            </a:extLst>
          </p:cNvPr>
          <p:cNvSpPr/>
          <p:nvPr/>
        </p:nvSpPr>
        <p:spPr>
          <a:xfrm>
            <a:off x="870242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CECF1C1-BAF9-9DDF-EBE2-68F6EC118EE0}"/>
              </a:ext>
            </a:extLst>
          </p:cNvPr>
          <p:cNvSpPr/>
          <p:nvPr/>
        </p:nvSpPr>
        <p:spPr>
          <a:xfrm>
            <a:off x="257518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27302A5-65D4-BCDD-0B6E-CCB1E8262BF0}"/>
              </a:ext>
            </a:extLst>
          </p:cNvPr>
          <p:cNvSpPr/>
          <p:nvPr/>
        </p:nvSpPr>
        <p:spPr>
          <a:xfrm>
            <a:off x="870242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F3086E4-ABC2-4266-B139-FEFFA0D85834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489580" y="2671763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88D44F8-65F7-A198-E9FF-53553CF7A0DC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 flipH="1">
            <a:off x="3032380" y="3128963"/>
            <a:ext cx="6127240" cy="17240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8D9FFB-94AB-F06F-11FE-F9874D3DF51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3489580" y="5310188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1">
            <a:extLst>
              <a:ext uri="{FF2B5EF4-FFF2-40B4-BE49-F238E27FC236}">
                <a16:creationId xmlns:a16="http://schemas.microsoft.com/office/drawing/2014/main" id="{E8F5EBC2-004D-1390-0700-5B54E01573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809966" y="3762376"/>
            <a:ext cx="2743200" cy="627864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Tabs track progress. The flywheel earns its space.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38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" grpId="0" animBg="1"/>
      <p:bldP spid="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985C-F561-8196-F07A-6E748E88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6E90EDA-2FF7-90F9-C8E9-9482F475F8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291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A1F3FF-9257-86DA-FB07-D5A2A09C75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7F44985-3629-A53F-B153-019CA0A7A0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8F681D74-6AF2-8326-52B9-A185F2E6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  <a:solidFill>
            <a:schemeClr val="bg1">
              <a:lumMod val="95000"/>
            </a:schemeClr>
          </a:solidFill>
        </p:spPr>
        <p:txBody>
          <a:bodyPr vert="horz"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If I only read this line, I’d get the point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4250802-6251-3FB6-39B9-120989D85FF2}"/>
              </a:ext>
            </a:extLst>
          </p:cNvPr>
          <p:cNvSpPr txBox="1">
            <a:spLocks/>
          </p:cNvSpPr>
          <p:nvPr/>
        </p:nvSpPr>
        <p:spPr>
          <a:xfrm>
            <a:off x="539496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3CFABA86-21AD-F4C6-C7BA-92CBCD02AB8C}"/>
              </a:ext>
            </a:extLst>
          </p:cNvPr>
          <p:cNvSpPr txBox="1">
            <a:spLocks/>
          </p:cNvSpPr>
          <p:nvPr/>
        </p:nvSpPr>
        <p:spPr>
          <a:xfrm>
            <a:off x="1557338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A4D83C53-48A3-0DFC-7D0A-D6C52AF40D98}"/>
              </a:ext>
            </a:extLst>
          </p:cNvPr>
          <p:cNvSpPr txBox="1">
            <a:spLocks/>
          </p:cNvSpPr>
          <p:nvPr/>
        </p:nvSpPr>
        <p:spPr>
          <a:xfrm>
            <a:off x="2575180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409220F-2C11-1D6D-9B5E-BCD261292766}"/>
              </a:ext>
            </a:extLst>
          </p:cNvPr>
          <p:cNvSpPr txBox="1">
            <a:spLocks/>
          </p:cNvSpPr>
          <p:nvPr/>
        </p:nvSpPr>
        <p:spPr>
          <a:xfrm>
            <a:off x="3593022" y="253788"/>
            <a:ext cx="1017842" cy="2605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Section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75DC11E-90B4-8D29-C845-E7D8344815BF}"/>
              </a:ext>
            </a:extLst>
          </p:cNvPr>
          <p:cNvSpPr/>
          <p:nvPr/>
        </p:nvSpPr>
        <p:spPr>
          <a:xfrm>
            <a:off x="257518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0BCDA37-B01B-0A09-7096-5B84EB51DEE2}"/>
              </a:ext>
            </a:extLst>
          </p:cNvPr>
          <p:cNvSpPr/>
          <p:nvPr/>
        </p:nvSpPr>
        <p:spPr>
          <a:xfrm>
            <a:off x="8702420" y="2214563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82BC642-9048-43A2-A72A-7E694AE61B22}"/>
              </a:ext>
            </a:extLst>
          </p:cNvPr>
          <p:cNvSpPr/>
          <p:nvPr/>
        </p:nvSpPr>
        <p:spPr>
          <a:xfrm>
            <a:off x="257518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87BF69F-9075-35B3-A10A-D13EB14E1D15}"/>
              </a:ext>
            </a:extLst>
          </p:cNvPr>
          <p:cNvSpPr/>
          <p:nvPr/>
        </p:nvSpPr>
        <p:spPr>
          <a:xfrm>
            <a:off x="8702420" y="4852988"/>
            <a:ext cx="914400" cy="914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9FD5C0-9A25-2A16-4D56-EAEA0AA0C85A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489580" y="2671763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B5B23A8-BD48-D2AD-DA8D-3DB6348DAFEC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 flipH="1">
            <a:off x="3032380" y="3128963"/>
            <a:ext cx="6127240" cy="17240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4AC6FB4-7F2A-BA48-C7DC-E266E811AD07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3489580" y="5310188"/>
            <a:ext cx="52128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1">
            <a:extLst>
              <a:ext uri="{FF2B5EF4-FFF2-40B4-BE49-F238E27FC236}">
                <a16:creationId xmlns:a16="http://schemas.microsoft.com/office/drawing/2014/main" id="{CA5441AC-FFF3-79B7-E25D-6DA353BC74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809966" y="3762376"/>
            <a:ext cx="2743200" cy="904863"/>
          </a:xfrm>
          <a:prstGeom prst="rect">
            <a:avLst/>
          </a:prstGeom>
          <a:pattFill>
            <a:fgClr>
              <a:srgbClr val="FFFF00"/>
            </a:fgClr>
            <a:bgClr>
              <a:srgbClr val="FFFF00"/>
            </a:bgClr>
          </a:pattFill>
          <a:ln w="9525" cap="rnd">
            <a:solidFill>
              <a:srgbClr val="575757"/>
            </a:solidFill>
            <a:prstDash val="solid"/>
          </a:ln>
          <a:effectLst>
            <a:outerShdw dist="35560" dir="3498616" rotWithShape="0">
              <a:scrgbClr r="0" g="0" b="0"/>
            </a:outerShdw>
          </a:effectLst>
        </p:spPr>
        <p:txBody>
          <a:bodyPr vert="horz" wrap="square" lIns="36576" tIns="36576" rIns="36576" bIns="36576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dirty="0"/>
              <a:t>Full-bleed product shots carry it. Text only annotates.</a:t>
            </a:r>
            <a:endParaRPr lang="en-US" sz="1600" b="1" dirty="0">
              <a:solidFill>
                <a:srgbClr val="575757"/>
              </a:solidFill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69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7" grpId="0" animBg="1"/>
      <p:bldP spid="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2E24-0B2A-51CA-5EED-79FBB7D6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38D49C-C23E-0A50-FB1E-44C64B5E35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83102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3544FE-E384-2FAF-B4F8-EF90B2E97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229AF92-2988-386D-CFFA-93D2040BF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15611"/>
            <a:ext cx="11013670" cy="849793"/>
          </a:xfrm>
        </p:spPr>
        <p:txBody>
          <a:bodyPr vert="horz">
            <a:normAutofit fontScale="90000"/>
          </a:bodyPr>
          <a:lstStyle/>
          <a:p>
            <a:r>
              <a:rPr lang="en-US" dirty="0"/>
              <a:t>Decks are a visual reflection of the co.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B21869-B038-D45A-D615-CAEA483CB5DB}"/>
              </a:ext>
            </a:extLst>
          </p:cNvPr>
          <p:cNvSpPr/>
          <p:nvPr/>
        </p:nvSpPr>
        <p:spPr>
          <a:xfrm>
            <a:off x="785813" y="2071689"/>
            <a:ext cx="10529887" cy="1085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700B32-6596-370B-AAFF-AEBDA979B73E}"/>
              </a:ext>
            </a:extLst>
          </p:cNvPr>
          <p:cNvSpPr/>
          <p:nvPr/>
        </p:nvSpPr>
        <p:spPr>
          <a:xfrm>
            <a:off x="947739" y="2212183"/>
            <a:ext cx="2190750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Netflix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E1AF54-5347-BA6E-7AFC-757A166E4928}"/>
              </a:ext>
            </a:extLst>
          </p:cNvPr>
          <p:cNvSpPr/>
          <p:nvPr/>
        </p:nvSpPr>
        <p:spPr>
          <a:xfrm>
            <a:off x="3334157" y="2212182"/>
            <a:ext cx="971548" cy="80486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838A2C-EA15-7CF1-E0C4-D2008C4636A3}"/>
              </a:ext>
            </a:extLst>
          </p:cNvPr>
          <p:cNvSpPr/>
          <p:nvPr/>
        </p:nvSpPr>
        <p:spPr>
          <a:xfrm>
            <a:off x="4501373" y="2212182"/>
            <a:ext cx="971548" cy="8048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A21950-5FF3-C6C1-D735-BC89474FB5A1}"/>
              </a:ext>
            </a:extLst>
          </p:cNvPr>
          <p:cNvSpPr/>
          <p:nvPr/>
        </p:nvSpPr>
        <p:spPr>
          <a:xfrm>
            <a:off x="5668589" y="2212181"/>
            <a:ext cx="971548" cy="804861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E5972-C6C9-69F1-35A8-DE7F8766E032}"/>
              </a:ext>
            </a:extLst>
          </p:cNvPr>
          <p:cNvSpPr/>
          <p:nvPr/>
        </p:nvSpPr>
        <p:spPr>
          <a:xfrm>
            <a:off x="6835805" y="2212180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Netflix Sans 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731ED2-7F76-CB39-9BEF-9EDA1268652F}"/>
              </a:ext>
            </a:extLst>
          </p:cNvPr>
          <p:cNvSpPr/>
          <p:nvPr/>
        </p:nvSpPr>
        <p:spPr>
          <a:xfrm>
            <a:off x="9102485" y="2212179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Helvetica Neue / Arial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332CC3-EE96-AE4E-6FCA-4076AEACAB73}"/>
              </a:ext>
            </a:extLst>
          </p:cNvPr>
          <p:cNvSpPr/>
          <p:nvPr/>
        </p:nvSpPr>
        <p:spPr>
          <a:xfrm>
            <a:off x="785813" y="3429000"/>
            <a:ext cx="10529887" cy="1085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5A0C59-D871-56C8-EEA0-C9C9919DBC48}"/>
              </a:ext>
            </a:extLst>
          </p:cNvPr>
          <p:cNvSpPr/>
          <p:nvPr/>
        </p:nvSpPr>
        <p:spPr>
          <a:xfrm>
            <a:off x="947739" y="3569494"/>
            <a:ext cx="2190750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Okta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7972C57-5168-5897-B3C7-EE13E3C85165}"/>
              </a:ext>
            </a:extLst>
          </p:cNvPr>
          <p:cNvSpPr/>
          <p:nvPr/>
        </p:nvSpPr>
        <p:spPr>
          <a:xfrm>
            <a:off x="3334157" y="3569493"/>
            <a:ext cx="971548" cy="804861"/>
          </a:xfrm>
          <a:prstGeom prst="rect">
            <a:avLst/>
          </a:prstGeom>
          <a:solidFill>
            <a:srgbClr val="013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ED830A-7759-890C-382F-A702B85A6D80}"/>
              </a:ext>
            </a:extLst>
          </p:cNvPr>
          <p:cNvSpPr/>
          <p:nvPr/>
        </p:nvSpPr>
        <p:spPr>
          <a:xfrm>
            <a:off x="4501373" y="3569493"/>
            <a:ext cx="971548" cy="80486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9DF626-2D29-7B2A-5976-01577CD3F731}"/>
              </a:ext>
            </a:extLst>
          </p:cNvPr>
          <p:cNvSpPr/>
          <p:nvPr/>
        </p:nvSpPr>
        <p:spPr>
          <a:xfrm>
            <a:off x="5668589" y="3569492"/>
            <a:ext cx="971548" cy="804861"/>
          </a:xfrm>
          <a:prstGeom prst="rect">
            <a:avLst/>
          </a:prstGeom>
          <a:solidFill>
            <a:srgbClr val="EC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49B9C1-1AA3-06E6-C4B0-A5CB6E8E9D62}"/>
              </a:ext>
            </a:extLst>
          </p:cNvPr>
          <p:cNvSpPr/>
          <p:nvPr/>
        </p:nvSpPr>
        <p:spPr>
          <a:xfrm>
            <a:off x="6835805" y="3569491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Aeonik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A8C5E1-BC79-C4B4-17EE-1241C7393F82}"/>
              </a:ext>
            </a:extLst>
          </p:cNvPr>
          <p:cNvSpPr/>
          <p:nvPr/>
        </p:nvSpPr>
        <p:spPr>
          <a:xfrm>
            <a:off x="9102485" y="3569490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 Grotesk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DA209B-0DB0-5B48-C478-3ECADC646E51}"/>
              </a:ext>
            </a:extLst>
          </p:cNvPr>
          <p:cNvSpPr/>
          <p:nvPr/>
        </p:nvSpPr>
        <p:spPr>
          <a:xfrm>
            <a:off x="785813" y="4786311"/>
            <a:ext cx="10529887" cy="1085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A218C85-4A22-C062-443B-3AB99AF704E6}"/>
              </a:ext>
            </a:extLst>
          </p:cNvPr>
          <p:cNvSpPr/>
          <p:nvPr/>
        </p:nvSpPr>
        <p:spPr>
          <a:xfrm>
            <a:off x="947739" y="4926805"/>
            <a:ext cx="2190750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Spotify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36A385-1230-7424-3B2C-30581515949C}"/>
              </a:ext>
            </a:extLst>
          </p:cNvPr>
          <p:cNvSpPr/>
          <p:nvPr/>
        </p:nvSpPr>
        <p:spPr>
          <a:xfrm>
            <a:off x="3334157" y="4926804"/>
            <a:ext cx="971548" cy="804861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775FF5-8C60-F92F-03AB-CFE5CBE90F4A}"/>
              </a:ext>
            </a:extLst>
          </p:cNvPr>
          <p:cNvSpPr/>
          <p:nvPr/>
        </p:nvSpPr>
        <p:spPr>
          <a:xfrm>
            <a:off x="4501373" y="4926804"/>
            <a:ext cx="971548" cy="804861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4D19C4-382C-1010-CF31-DD3DC8D6B0FB}"/>
              </a:ext>
            </a:extLst>
          </p:cNvPr>
          <p:cNvSpPr/>
          <p:nvPr/>
        </p:nvSpPr>
        <p:spPr>
          <a:xfrm>
            <a:off x="5668589" y="4926803"/>
            <a:ext cx="971548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56F2BF0-19EB-C0CD-6311-F75F3AC10155}"/>
              </a:ext>
            </a:extLst>
          </p:cNvPr>
          <p:cNvSpPr/>
          <p:nvPr/>
        </p:nvSpPr>
        <p:spPr>
          <a:xfrm>
            <a:off x="6835805" y="4926802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Spotify Mix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EAA33AE-3157-715B-F446-BC2B928F30DF}"/>
              </a:ext>
            </a:extLst>
          </p:cNvPr>
          <p:cNvSpPr/>
          <p:nvPr/>
        </p:nvSpPr>
        <p:spPr>
          <a:xfrm>
            <a:off x="9102485" y="4926801"/>
            <a:ext cx="2071013" cy="804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Helvetica</a:t>
            </a:r>
          </a:p>
        </p:txBody>
      </p:sp>
    </p:spTree>
    <p:extLst>
      <p:ext uri="{BB962C8B-B14F-4D97-AF65-F5344CB8AC3E}">
        <p14:creationId xmlns:p14="http://schemas.microsoft.com/office/powerpoint/2010/main" val="395589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94B31-D418-68F2-8345-828659A8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3C878-0DFE-6B4D-65BF-E398CD6BBF6B}"/>
              </a:ext>
            </a:extLst>
          </p:cNvPr>
          <p:cNvSpPr txBox="1"/>
          <p:nvPr/>
        </p:nvSpPr>
        <p:spPr>
          <a:xfrm>
            <a:off x="3188677" y="3176954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21D46308-B0BB-3321-20B9-7B6CE81953B5}"/>
              </a:ext>
            </a:extLst>
          </p:cNvPr>
          <p:cNvSpPr txBox="1">
            <a:spLocks/>
          </p:cNvSpPr>
          <p:nvPr/>
        </p:nvSpPr>
        <p:spPr>
          <a:xfrm>
            <a:off x="0" y="5028431"/>
            <a:ext cx="6388443" cy="4803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Akhil Bhardwaj / Anuraag Dash</a:t>
            </a:r>
          </a:p>
          <a:p>
            <a:r>
              <a:rPr lang="en-US" dirty="0"/>
              <a:t>03 October at ISB.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65F1F0-53FB-F3E6-3B35-E9EFB9AA3225}"/>
              </a:ext>
            </a:extLst>
          </p:cNvPr>
          <p:cNvSpPr txBox="1">
            <a:spLocks/>
          </p:cNvSpPr>
          <p:nvPr/>
        </p:nvSpPr>
        <p:spPr>
          <a:xfrm>
            <a:off x="-18995" y="5508804"/>
            <a:ext cx="6407437" cy="114300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0" i="0" kern="12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Using AI for PM Decks.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2EE1F-9EDB-C377-83B9-CA817E9C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95" y="0"/>
            <a:ext cx="12210995" cy="686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Imag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CUSTOMTAGKEY" val="CommentTagVal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2650</TotalTime>
  <Words>971</Words>
  <Application>Microsoft Macintosh PowerPoint</Application>
  <PresentationFormat>Widescreen</PresentationFormat>
  <Paragraphs>173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Neue Haas Grotesk Text Pro</vt:lpstr>
      <vt:lpstr>Trebuchet MS</vt:lpstr>
      <vt:lpstr>Axis</vt:lpstr>
      <vt:lpstr>think-cell Slide</vt:lpstr>
      <vt:lpstr>PowerPoint Presentation</vt:lpstr>
      <vt:lpstr>You’re interacting with</vt:lpstr>
      <vt:lpstr>PowerPoint Presentation</vt:lpstr>
      <vt:lpstr>Two parts to a good deck…</vt:lpstr>
      <vt:lpstr>PowerPoint Presentation</vt:lpstr>
      <vt:lpstr>Communication = Design + Impact</vt:lpstr>
      <vt:lpstr>Communication = Design + Impact</vt:lpstr>
      <vt:lpstr>AI sucks at designing human slides</vt:lpstr>
      <vt:lpstr>We bias our neural pathways early</vt:lpstr>
      <vt:lpstr>Intuitive slide design always wins</vt:lpstr>
      <vt:lpstr>Idea = Content + Tone</vt:lpstr>
      <vt:lpstr>AI slop is easier to detect than ever</vt:lpstr>
      <vt:lpstr>AI can’t think in first principles</vt:lpstr>
      <vt:lpstr>AI is amazing at filling in the blanks</vt:lpstr>
      <vt:lpstr>AI is amazing at filling in the blanks</vt:lpstr>
      <vt:lpstr>PowerPoint Presentation</vt:lpstr>
      <vt:lpstr>Your decks won’t pass if you…</vt:lpstr>
      <vt:lpstr>… but if you leverage your two brains</vt:lpstr>
      <vt:lpstr>PowerPoint Presentation</vt:lpstr>
      <vt:lpstr>Narratives are about selling a solution</vt:lpstr>
      <vt:lpstr>Narratives are about selling a solution</vt:lpstr>
      <vt:lpstr>Arrange information to fit the narrative</vt:lpstr>
      <vt:lpstr>Good content solidifies your storytelling</vt:lpstr>
      <vt:lpstr>PowerPoint Presentation</vt:lpstr>
      <vt:lpstr>If I only read this line, I’d get the point</vt:lpstr>
      <vt:lpstr>If I only read this line, I’d get the point</vt:lpstr>
      <vt:lpstr>If I only read this line, I’d get the point</vt:lpstr>
      <vt:lpstr>If I only read this line, I’d get the point</vt:lpstr>
      <vt:lpstr>Decks are a visual reflection of the co.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Bhardwaj, Akhil</dc:creator>
  <cp:lastModifiedBy>Bhardwaj, Akhil</cp:lastModifiedBy>
  <cp:revision>34</cp:revision>
  <dcterms:created xsi:type="dcterms:W3CDTF">2026-09-30T10:24:46Z</dcterms:created>
  <dcterms:modified xsi:type="dcterms:W3CDTF">2026-10-03T11:36:27Z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2026-09-30T23:09:35Z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7b3ade14-6d94-411d-9bcd-aef99a1664b8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50, 3, 0, 1</vt:lpwstr>
  </property>
</Properties>
</file>